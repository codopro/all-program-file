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7" r:id="rId2"/>
    <p:sldId id="258" r:id="rId3"/>
    <p:sldId id="259" r:id="rId4"/>
    <p:sldId id="260" r:id="rId5"/>
    <p:sldId id="261" r:id="rId6"/>
  </p:sldIdLst>
  <p:sldSz cx="6858000" cy="9906000" type="A4"/>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0E9"/>
    <a:srgbClr val="FBDFDD"/>
    <a:srgbClr val="FCEAED"/>
    <a:srgbClr val="ED798E"/>
    <a:srgbClr val="F9F9F9"/>
    <a:srgbClr val="E9F1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57" d="100"/>
          <a:sy n="57" d="100"/>
        </p:scale>
        <p:origin x="2559" y="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C4742EC6-09AB-4B76-B9C1-2DB180CE1E0E}" type="datetimeFigureOut">
              <a:rPr kumimoji="1" lang="ja-JP" altLang="en-US" smtClean="0"/>
              <a:t>2024/3/21</a:t>
            </a:fld>
            <a:endParaRPr kumimoji="1" lang="ja-JP" altLang="en-US"/>
          </a:p>
        </p:txBody>
      </p:sp>
      <p:sp>
        <p:nvSpPr>
          <p:cNvPr id="4" name="スライド イメージ プレースホルダー 3"/>
          <p:cNvSpPr>
            <a:spLocks noGrp="1" noRot="1" noChangeAspect="1"/>
          </p:cNvSpPr>
          <p:nvPr>
            <p:ph type="sldImg" idx="2"/>
          </p:nvPr>
        </p:nvSpPr>
        <p:spPr>
          <a:xfrm>
            <a:off x="2357438" y="1279525"/>
            <a:ext cx="2389187" cy="3454400"/>
          </a:xfrm>
          <a:prstGeom prst="rect">
            <a:avLst/>
          </a:prstGeom>
          <a:noFill/>
          <a:ln w="12700">
            <a:solidFill>
              <a:prstClr val="black"/>
            </a:solidFill>
          </a:ln>
        </p:spPr>
        <p:txBody>
          <a:bodyPr vert="horz" lIns="99075" tIns="49538" rIns="99075" bIns="49538" rtlCol="0" anchor="ctr"/>
          <a:lstStyle/>
          <a:p>
            <a:endParaRPr lang="ja-JP" altLang="en-US"/>
          </a:p>
        </p:txBody>
      </p:sp>
      <p:sp>
        <p:nvSpPr>
          <p:cNvPr id="5" name="ノート プレースホルダー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4F4D6B1C-D17F-4DC1-8475-0DDBD19A5570}" type="slidenum">
              <a:rPr kumimoji="1" lang="ja-JP" altLang="en-US" smtClean="0"/>
              <a:t>‹#›</a:t>
            </a:fld>
            <a:endParaRPr kumimoji="1" lang="ja-JP" altLang="en-US"/>
          </a:p>
        </p:txBody>
      </p:sp>
    </p:spTree>
    <p:extLst>
      <p:ext uri="{BB962C8B-B14F-4D97-AF65-F5344CB8AC3E}">
        <p14:creationId xmlns:p14="http://schemas.microsoft.com/office/powerpoint/2010/main" val="22725080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1</a:t>
            </a:fld>
            <a:endParaRPr kumimoji="1" lang="ja-JP" altLang="en-US"/>
          </a:p>
        </p:txBody>
      </p:sp>
    </p:spTree>
    <p:extLst>
      <p:ext uri="{BB962C8B-B14F-4D97-AF65-F5344CB8AC3E}">
        <p14:creationId xmlns:p14="http://schemas.microsoft.com/office/powerpoint/2010/main" val="630087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2</a:t>
            </a:fld>
            <a:endParaRPr kumimoji="1" lang="ja-JP" altLang="en-US"/>
          </a:p>
        </p:txBody>
      </p:sp>
    </p:spTree>
    <p:extLst>
      <p:ext uri="{BB962C8B-B14F-4D97-AF65-F5344CB8AC3E}">
        <p14:creationId xmlns:p14="http://schemas.microsoft.com/office/powerpoint/2010/main" val="1448110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3</a:t>
            </a:fld>
            <a:endParaRPr kumimoji="1" lang="ja-JP" altLang="en-US"/>
          </a:p>
        </p:txBody>
      </p:sp>
    </p:spTree>
    <p:extLst>
      <p:ext uri="{BB962C8B-B14F-4D97-AF65-F5344CB8AC3E}">
        <p14:creationId xmlns:p14="http://schemas.microsoft.com/office/powerpoint/2010/main" val="2335014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4</a:t>
            </a:fld>
            <a:endParaRPr kumimoji="1" lang="ja-JP" altLang="en-US"/>
          </a:p>
        </p:txBody>
      </p:sp>
    </p:spTree>
    <p:extLst>
      <p:ext uri="{BB962C8B-B14F-4D97-AF65-F5344CB8AC3E}">
        <p14:creationId xmlns:p14="http://schemas.microsoft.com/office/powerpoint/2010/main" val="1937192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F4D6B1C-D17F-4DC1-8475-0DDBD19A5570}" type="slidenum">
              <a:rPr kumimoji="1" lang="ja-JP" altLang="en-US" smtClean="0"/>
              <a:t>5</a:t>
            </a:fld>
            <a:endParaRPr kumimoji="1" lang="ja-JP" altLang="en-US"/>
          </a:p>
        </p:txBody>
      </p:sp>
    </p:spTree>
    <p:extLst>
      <p:ext uri="{BB962C8B-B14F-4D97-AF65-F5344CB8AC3E}">
        <p14:creationId xmlns:p14="http://schemas.microsoft.com/office/powerpoint/2010/main" val="4146330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0" name="図 9"/>
          <p:cNvPicPr>
            <a:picLocks noChangeAspect="1"/>
          </p:cNvPicPr>
          <p:nvPr userDrawn="1"/>
        </p:nvPicPr>
        <p:blipFill>
          <a:blip r:embed="rId2"/>
          <a:stretch>
            <a:fillRect/>
          </a:stretch>
        </p:blipFill>
        <p:spPr>
          <a:xfrm>
            <a:off x="2255" y="-881"/>
            <a:ext cx="6855745" cy="662780"/>
          </a:xfrm>
          <a:prstGeom prst="rect">
            <a:avLst/>
          </a:prstGeom>
        </p:spPr>
      </p:pic>
      <p:sp>
        <p:nvSpPr>
          <p:cNvPr id="2" name="Title 1"/>
          <p:cNvSpPr>
            <a:spLocks noGrp="1"/>
          </p:cNvSpPr>
          <p:nvPr>
            <p:ph type="ctrTitle"/>
          </p:nvPr>
        </p:nvSpPr>
        <p:spPr>
          <a:xfrm>
            <a:off x="2255" y="781292"/>
            <a:ext cx="6215063" cy="1506443"/>
          </a:xfrm>
          <a:prstGeom prst="rect">
            <a:avLst/>
          </a:prstGeom>
        </p:spPr>
        <p:txBody>
          <a:bodyPr anchor="t">
            <a:normAutofit/>
          </a:bodyPr>
          <a:lstStyle>
            <a:lvl1pPr algn="l">
              <a:defRPr sz="2800"/>
            </a:lvl1pPr>
          </a:lstStyle>
          <a:p>
            <a:r>
              <a:rPr lang="ja-JP" altLang="en-US" dirty="0" smtClean="0"/>
              <a:t>マスター タイトルの書式設定</a:t>
            </a:r>
            <a:endParaRPr lang="en-US" dirty="0"/>
          </a:p>
        </p:txBody>
      </p:sp>
      <p:sp>
        <p:nvSpPr>
          <p:cNvPr id="11" name="テキスト ボックス 10"/>
          <p:cNvSpPr txBox="1"/>
          <p:nvPr userDrawn="1"/>
        </p:nvSpPr>
        <p:spPr>
          <a:xfrm>
            <a:off x="2255" y="159373"/>
            <a:ext cx="6853490" cy="461665"/>
          </a:xfrm>
          <a:prstGeom prst="rect">
            <a:avLst/>
          </a:prstGeom>
          <a:noFill/>
        </p:spPr>
        <p:txBody>
          <a:bodyPr wrap="square" rtlCol="0">
            <a:spAutoFit/>
          </a:bodyPr>
          <a:lstStyle/>
          <a:p>
            <a:r>
              <a:rPr kumimoji="1" lang="ja-JP" altLang="en-US" sz="2400" b="1" dirty="0" err="1" smtClean="0">
                <a:solidFill>
                  <a:schemeClr val="bg1"/>
                </a:solidFill>
                <a:latin typeface="ＭＳ Ｐゴシック" panose="020B0600070205080204" pitchFamily="50" charset="-128"/>
                <a:ea typeface="ＭＳ Ｐゴシック" panose="020B0600070205080204" pitchFamily="50" charset="-128"/>
              </a:rPr>
              <a:t>こど</a:t>
            </a:r>
            <a:r>
              <a:rPr kumimoji="1" lang="ja-JP" altLang="en-US" sz="2400" b="1" dirty="0" smtClean="0">
                <a:solidFill>
                  <a:schemeClr val="bg1"/>
                </a:solidFill>
                <a:latin typeface="ＭＳ Ｐゴシック" panose="020B0600070205080204" pitchFamily="50" charset="-128"/>
                <a:ea typeface="ＭＳ Ｐゴシック" panose="020B0600070205080204" pitchFamily="50" charset="-128"/>
              </a:rPr>
              <a:t>プロベーシック</a:t>
            </a:r>
            <a:r>
              <a:rPr kumimoji="1" lang="en-US" altLang="ja-JP" sz="2400" b="1" dirty="0" smtClean="0">
                <a:solidFill>
                  <a:schemeClr val="bg1"/>
                </a:solidFill>
                <a:latin typeface="ＭＳ Ｐゴシック" panose="020B0600070205080204" pitchFamily="50" charset="-128"/>
                <a:ea typeface="ＭＳ Ｐゴシック" panose="020B0600070205080204" pitchFamily="50" charset="-128"/>
              </a:rPr>
              <a:t>2 </a:t>
            </a:r>
            <a:r>
              <a:rPr kumimoji="1" lang="ja-JP" altLang="en-US" sz="2400" b="1" dirty="0" smtClean="0">
                <a:solidFill>
                  <a:schemeClr val="bg1"/>
                </a:solidFill>
                <a:latin typeface="ＭＳ Ｐゴシック" panose="020B0600070205080204" pitchFamily="50" charset="-128"/>
                <a:ea typeface="ＭＳ Ｐゴシック" panose="020B0600070205080204" pitchFamily="50" charset="-128"/>
              </a:rPr>
              <a:t>回答プログラム </a:t>
            </a:r>
            <a:r>
              <a:rPr kumimoji="1" lang="en-US" altLang="ja-JP" sz="2400" b="1" baseline="0" dirty="0" smtClean="0">
                <a:solidFill>
                  <a:schemeClr val="bg1"/>
                </a:solidFill>
                <a:latin typeface="ＭＳ Ｐゴシック" panose="020B0600070205080204" pitchFamily="50" charset="-128"/>
                <a:ea typeface="ＭＳ Ｐゴシック" panose="020B0600070205080204" pitchFamily="50" charset="-128"/>
              </a:rPr>
              <a:t>  </a:t>
            </a:r>
            <a:r>
              <a:rPr kumimoji="1" lang="en-US" altLang="ja-JP" sz="2400" b="1" baseline="0" dirty="0" smtClean="0">
                <a:solidFill>
                  <a:schemeClr val="bg1"/>
                </a:solidFill>
                <a:latin typeface="ＭＳ Ｐゴシック" panose="020B0600070205080204" pitchFamily="50" charset="-128"/>
                <a:ea typeface="ＭＳ Ｐゴシック" panose="020B0600070205080204" pitchFamily="50" charset="-128"/>
              </a:rPr>
              <a:t>4</a:t>
            </a:r>
            <a:r>
              <a:rPr kumimoji="1" lang="ja-JP" altLang="en-US" sz="2400" b="1" baseline="0" dirty="0" smtClean="0">
                <a:solidFill>
                  <a:schemeClr val="bg1"/>
                </a:solidFill>
                <a:latin typeface="ＭＳ Ｐゴシック" panose="020B0600070205080204" pitchFamily="50" charset="-128"/>
                <a:ea typeface="ＭＳ Ｐゴシック" panose="020B0600070205080204" pitchFamily="50" charset="-128"/>
              </a:rPr>
              <a:t>月</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14" name="スライド番号プレースホルダー 13"/>
          <p:cNvSpPr>
            <a:spLocks noGrp="1"/>
          </p:cNvSpPr>
          <p:nvPr>
            <p:ph type="sldNum" sz="quarter" idx="12"/>
          </p:nvPr>
        </p:nvSpPr>
        <p:spPr/>
        <p:txBody>
          <a:bodyPr/>
          <a:lstStyle>
            <a:lvl1pPr>
              <a:defRPr sz="1600">
                <a:solidFill>
                  <a:schemeClr val="tx1"/>
                </a:solidFill>
              </a:defRPr>
            </a:lvl1pPr>
          </a:lstStyle>
          <a:p>
            <a:fld id="{8DBAE1CF-20C8-4114-ADB2-E159DA3EDBFD}" type="slidenum">
              <a:rPr lang="ja-JP" altLang="en-US" smtClean="0"/>
              <a:pPr/>
              <a:t>‹#›</a:t>
            </a:fld>
            <a:endParaRPr lang="ja-JP" altLang="en-US" dirty="0"/>
          </a:p>
        </p:txBody>
      </p:sp>
    </p:spTree>
    <p:extLst>
      <p:ext uri="{BB962C8B-B14F-4D97-AF65-F5344CB8AC3E}">
        <p14:creationId xmlns:p14="http://schemas.microsoft.com/office/powerpoint/2010/main" val="252114295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ja-JP" altLang="en-US" smtClean="0"/>
              <a:t>マスター タイトルの書式設定</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248530197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4286521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2520370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smtClean="0"/>
              <a:t>マスター テキストの書式設定</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1452040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3745573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244934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smtClean="0"/>
              <a:t>マスター テキストの書式設定</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231459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smtClean="0"/>
              <a:t>図を追加</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smtClean="0"/>
              <a:t>マスター テキストの書式設定</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1491549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1022197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7B570846-C644-4860-8629-82DAEE2D20F3}" type="datetimeFigureOut">
              <a:rPr kumimoji="1" lang="ja-JP" altLang="en-US" smtClean="0"/>
              <a:t>2024/3/21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1944428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8DBAE1CF-20C8-4114-ADB2-E159DA3EDBFD}" type="slidenum">
              <a:rPr kumimoji="1" lang="ja-JP" altLang="en-US" smtClean="0"/>
              <a:t>‹#›</a:t>
            </a:fld>
            <a:endParaRPr kumimoji="1" lang="ja-JP" altLang="en-US"/>
          </a:p>
        </p:txBody>
      </p:sp>
    </p:spTree>
    <p:extLst>
      <p:ext uri="{BB962C8B-B14F-4D97-AF65-F5344CB8AC3E}">
        <p14:creationId xmlns:p14="http://schemas.microsoft.com/office/powerpoint/2010/main" val="38777624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5.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2.xml"/><Relationship Id="rId16" Type="http://schemas.openxmlformats.org/officeDocument/2006/relationships/image" Target="../media/image21.png"/><Relationship Id="rId20"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7.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6.png"/><Relationship Id="rId10" Type="http://schemas.openxmlformats.org/officeDocument/2006/relationships/image" Target="../media/image15.png"/><Relationship Id="rId19"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9.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31.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5.png"/><Relationship Id="rId10" Type="http://schemas.openxmlformats.org/officeDocument/2006/relationships/image" Target="../media/image15.png"/><Relationship Id="rId19"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33.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4.xml"/><Relationship Id="rId16" Type="http://schemas.openxmlformats.org/officeDocument/2006/relationships/image" Target="../media/image21.png"/><Relationship Id="rId20"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35.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5.png"/><Relationship Id="rId10" Type="http://schemas.openxmlformats.org/officeDocument/2006/relationships/image" Target="../media/image15.png"/><Relationship Id="rId19"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34.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5.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5.xml"/><Relationship Id="rId16" Type="http://schemas.openxmlformats.org/officeDocument/2006/relationships/image" Target="../media/image21.png"/><Relationship Id="rId20"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角丸四角形 12"/>
          <p:cNvSpPr/>
          <p:nvPr/>
        </p:nvSpPr>
        <p:spPr>
          <a:xfrm>
            <a:off x="183451" y="1382197"/>
            <a:ext cx="5739677" cy="3662980"/>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1</a:t>
            </a:fld>
            <a:endParaRPr kumimoji="1" lang="ja-JP" altLang="en-US" dirty="0"/>
          </a:p>
        </p:txBody>
      </p:sp>
      <p:sp>
        <p:nvSpPr>
          <p:cNvPr id="24" name="角丸四角形 23"/>
          <p:cNvSpPr/>
          <p:nvPr/>
        </p:nvSpPr>
        <p:spPr>
          <a:xfrm>
            <a:off x="417241" y="6296979"/>
            <a:ext cx="5505887" cy="3434250"/>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9" name="グループ化 38"/>
          <p:cNvGrpSpPr/>
          <p:nvPr/>
        </p:nvGrpSpPr>
        <p:grpSpPr>
          <a:xfrm>
            <a:off x="475270" y="3808686"/>
            <a:ext cx="5055722" cy="998138"/>
            <a:chOff x="636467" y="7958857"/>
            <a:chExt cx="5055722" cy="998138"/>
          </a:xfrm>
        </p:grpSpPr>
        <p:pic>
          <p:nvPicPr>
            <p:cNvPr id="40" name="図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41" name="テキスト ボックス 40"/>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2" name="角丸四角形 41"/>
            <p:cNvSpPr/>
            <p:nvPr/>
          </p:nvSpPr>
          <p:spPr>
            <a:xfrm>
              <a:off x="636467" y="8434139"/>
              <a:ext cx="5055722" cy="522856"/>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Meiryo UI" panose="020B0604030504040204" pitchFamily="50" charset="-128"/>
                  <a:ea typeface="Meiryo UI" panose="020B0604030504040204" pitchFamily="50" charset="-128"/>
                </a:rPr>
                <a:t>入力</a:t>
              </a:r>
              <a:r>
                <a:rPr lang="ja-JP" altLang="en-US" sz="1200" dirty="0" smtClean="0">
                  <a:solidFill>
                    <a:schemeClr val="tx1"/>
                  </a:solidFill>
                  <a:latin typeface="Meiryo UI" panose="020B0604030504040204" pitchFamily="50" charset="-128"/>
                  <a:ea typeface="Meiryo UI" panose="020B0604030504040204" pitchFamily="50" charset="-128"/>
                </a:rPr>
                <a:t>した文字列の中に</a:t>
              </a:r>
              <a:r>
                <a:rPr lang="en-US" altLang="ja-JP" sz="1200" dirty="0" smtClean="0">
                  <a:solidFill>
                    <a:schemeClr val="tx1"/>
                  </a:solidFill>
                  <a:latin typeface="Meiryo UI" panose="020B0604030504040204" pitchFamily="50" charset="-128"/>
                  <a:ea typeface="Meiryo UI" panose="020B0604030504040204" pitchFamily="50" charset="-128"/>
                </a:rPr>
                <a:t>0</a:t>
              </a:r>
              <a:r>
                <a:rPr lang="ja-JP" altLang="en-US" sz="1200" dirty="0" smtClean="0">
                  <a:solidFill>
                    <a:schemeClr val="tx1"/>
                  </a:solidFill>
                  <a:latin typeface="Meiryo UI" panose="020B0604030504040204" pitchFamily="50" charset="-128"/>
                  <a:ea typeface="Meiryo UI" panose="020B0604030504040204" pitchFamily="50" charset="-128"/>
                </a:rPr>
                <a:t>が含まれている場合「</a:t>
              </a:r>
              <a:r>
                <a:rPr lang="en-US" altLang="ja-JP" sz="1200" dirty="0" smtClean="0">
                  <a:solidFill>
                    <a:schemeClr val="tx1"/>
                  </a:solidFill>
                  <a:latin typeface="Meiryo UI" panose="020B0604030504040204" pitchFamily="50" charset="-128"/>
                  <a:ea typeface="Meiryo UI" panose="020B0604030504040204" pitchFamily="50" charset="-128"/>
                </a:rPr>
                <a:t>OK</a:t>
              </a:r>
              <a:r>
                <a:rPr lang="ja-JP" altLang="en-US" sz="1200" dirty="0" smtClean="0">
                  <a:solidFill>
                    <a:schemeClr val="tx1"/>
                  </a:solidFill>
                  <a:latin typeface="Meiryo UI" panose="020B0604030504040204" pitchFamily="50" charset="-128"/>
                  <a:ea typeface="Meiryo UI" panose="020B0604030504040204" pitchFamily="50" charset="-128"/>
                </a:rPr>
                <a:t>」と答えて、含まれない場合は</a:t>
              </a:r>
              <a:endParaRPr lang="en-US" altLang="ja-JP" sz="1200" dirty="0" smtClean="0">
                <a:solidFill>
                  <a:schemeClr val="tx1"/>
                </a:solidFill>
                <a:latin typeface="Meiryo UI" panose="020B0604030504040204" pitchFamily="50" charset="-128"/>
                <a:ea typeface="Meiryo UI" panose="020B0604030504040204" pitchFamily="50" charset="-128"/>
              </a:endParaRPr>
            </a:p>
            <a:p>
              <a:r>
                <a:rPr lang="ja-JP" altLang="en-US" sz="1200" dirty="0" smtClean="0">
                  <a:solidFill>
                    <a:schemeClr val="tx1"/>
                  </a:solidFill>
                  <a:latin typeface="Meiryo UI" panose="020B0604030504040204" pitchFamily="50" charset="-128"/>
                  <a:ea typeface="Meiryo UI" panose="020B0604030504040204" pitchFamily="50" charset="-128"/>
                </a:rPr>
                <a:t>「</a:t>
              </a:r>
              <a:r>
                <a:rPr lang="en-US" altLang="ja-JP" sz="1200" dirty="0" smtClean="0">
                  <a:solidFill>
                    <a:schemeClr val="tx1"/>
                  </a:solidFill>
                  <a:latin typeface="Meiryo UI" panose="020B0604030504040204" pitchFamily="50" charset="-128"/>
                  <a:ea typeface="Meiryo UI" panose="020B0604030504040204" pitchFamily="50" charset="-128"/>
                </a:rPr>
                <a:t>0</a:t>
              </a:r>
              <a:r>
                <a:rPr lang="ja-JP" altLang="en-US" sz="1200" dirty="0" smtClean="0">
                  <a:solidFill>
                    <a:schemeClr val="tx1"/>
                  </a:solidFill>
                  <a:latin typeface="Meiryo UI" panose="020B0604030504040204" pitchFamily="50" charset="-128"/>
                  <a:ea typeface="Meiryo UI" panose="020B0604030504040204" pitchFamily="50" charset="-128"/>
                </a:rPr>
                <a:t>がないよ」と答えるプログラムです</a:t>
              </a:r>
              <a:r>
                <a:rPr lang="ja-JP" altLang="en-US" sz="1200" dirty="0" smtClean="0">
                  <a:solidFill>
                    <a:schemeClr val="tx1"/>
                  </a:solidFill>
                  <a:latin typeface="Meiryo UI" panose="020B0604030504040204" pitchFamily="50" charset="-128"/>
                  <a:ea typeface="Meiryo UI" panose="020B0604030504040204" pitchFamily="50" charset="-128"/>
                </a:rPr>
                <a:t>。</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grpSp>
        <p:nvGrpSpPr>
          <p:cNvPr id="45" name="グループ化 44"/>
          <p:cNvGrpSpPr/>
          <p:nvPr/>
        </p:nvGrpSpPr>
        <p:grpSpPr>
          <a:xfrm>
            <a:off x="536295" y="8501922"/>
            <a:ext cx="5267778" cy="1010787"/>
            <a:chOff x="-2845038" y="8903456"/>
            <a:chExt cx="5267778" cy="1010787"/>
          </a:xfrm>
        </p:grpSpPr>
        <p:pic>
          <p:nvPicPr>
            <p:cNvPr id="46" name="図 4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7379" y="8903456"/>
              <a:ext cx="580737" cy="716596"/>
            </a:xfrm>
            <a:prstGeom prst="rect">
              <a:avLst/>
            </a:prstGeom>
          </p:spPr>
        </p:pic>
        <p:sp>
          <p:nvSpPr>
            <p:cNvPr id="47" name="テキスト ボックス 46"/>
            <p:cNvSpPr txBox="1"/>
            <p:nvPr/>
          </p:nvSpPr>
          <p:spPr>
            <a:xfrm>
              <a:off x="-2637753" y="8952614"/>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8" name="角丸四角形 47"/>
            <p:cNvSpPr/>
            <p:nvPr/>
          </p:nvSpPr>
          <p:spPr>
            <a:xfrm>
              <a:off x="-2845038" y="9391904"/>
              <a:ext cx="5267778" cy="522339"/>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smtClean="0">
                  <a:solidFill>
                    <a:schemeClr val="tx1"/>
                  </a:solidFill>
                  <a:latin typeface="Meiryo UI" panose="020B0604030504040204" pitchFamily="50" charset="-128"/>
                  <a:ea typeface="Meiryo UI" panose="020B0604030504040204" pitchFamily="50" charset="-128"/>
                </a:rPr>
                <a:t>入力した文字列の中に</a:t>
              </a:r>
              <a:r>
                <a:rPr lang="en-US" altLang="ja-JP" sz="1200" dirty="0" smtClean="0">
                  <a:solidFill>
                    <a:schemeClr val="tx1"/>
                  </a:solidFill>
                  <a:latin typeface="Meiryo UI" panose="020B0604030504040204" pitchFamily="50" charset="-128"/>
                  <a:ea typeface="Meiryo UI" panose="020B0604030504040204" pitchFamily="50" charset="-128"/>
                </a:rPr>
                <a:t>0</a:t>
              </a:r>
              <a:r>
                <a:rPr lang="ja-JP" altLang="en-US" sz="1200" dirty="0" smtClean="0">
                  <a:solidFill>
                    <a:schemeClr val="tx1"/>
                  </a:solidFill>
                  <a:latin typeface="Meiryo UI" panose="020B0604030504040204" pitchFamily="50" charset="-128"/>
                  <a:ea typeface="Meiryo UI" panose="020B0604030504040204" pitchFamily="50" charset="-128"/>
                </a:rPr>
                <a:t>か</a:t>
              </a:r>
              <a:r>
                <a:rPr lang="en-US" altLang="ja-JP" sz="1200" dirty="0" smtClean="0">
                  <a:solidFill>
                    <a:schemeClr val="tx1"/>
                  </a:solidFill>
                  <a:latin typeface="Meiryo UI" panose="020B0604030504040204" pitchFamily="50" charset="-128"/>
                  <a:ea typeface="Meiryo UI" panose="020B0604030504040204" pitchFamily="50" charset="-128"/>
                </a:rPr>
                <a:t>1</a:t>
              </a:r>
              <a:r>
                <a:rPr lang="ja-JP" altLang="en-US" sz="1200" dirty="0" smtClean="0">
                  <a:solidFill>
                    <a:schemeClr val="tx1"/>
                  </a:solidFill>
                  <a:latin typeface="Meiryo UI" panose="020B0604030504040204" pitchFamily="50" charset="-128"/>
                  <a:ea typeface="Meiryo UI" panose="020B0604030504040204" pitchFamily="50" charset="-128"/>
                </a:rPr>
                <a:t>が含まれている場合のみ「</a:t>
              </a:r>
              <a:r>
                <a:rPr lang="en-US" altLang="ja-JP" sz="1200" dirty="0" smtClean="0">
                  <a:solidFill>
                    <a:schemeClr val="tx1"/>
                  </a:solidFill>
                  <a:latin typeface="Meiryo UI" panose="020B0604030504040204" pitchFamily="50" charset="-128"/>
                  <a:ea typeface="Meiryo UI" panose="020B0604030504040204" pitchFamily="50" charset="-128"/>
                </a:rPr>
                <a:t>OK</a:t>
              </a:r>
              <a:r>
                <a:rPr lang="ja-JP" altLang="en-US" sz="1200" dirty="0" smtClean="0">
                  <a:solidFill>
                    <a:schemeClr val="tx1"/>
                  </a:solidFill>
                  <a:latin typeface="Meiryo UI" panose="020B0604030504040204" pitchFamily="50" charset="-128"/>
                  <a:ea typeface="Meiryo UI" panose="020B0604030504040204" pitchFamily="50" charset="-128"/>
                </a:rPr>
                <a:t>」と答えるプログラムです。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2" name="図 1"/>
          <p:cNvPicPr>
            <a:picLocks noChangeAspect="1"/>
          </p:cNvPicPr>
          <p:nvPr/>
        </p:nvPicPr>
        <p:blipFill>
          <a:blip r:embed="rId4"/>
          <a:stretch>
            <a:fillRect/>
          </a:stretch>
        </p:blipFill>
        <p:spPr>
          <a:xfrm>
            <a:off x="94223" y="671922"/>
            <a:ext cx="5651485" cy="703992"/>
          </a:xfrm>
          <a:prstGeom prst="rect">
            <a:avLst/>
          </a:prstGeom>
        </p:spPr>
      </p:pic>
      <p:pic>
        <p:nvPicPr>
          <p:cNvPr id="15" name="図 14"/>
          <p:cNvPicPr>
            <a:picLocks noChangeAspect="1"/>
          </p:cNvPicPr>
          <p:nvPr/>
        </p:nvPicPr>
        <p:blipFill>
          <a:blip r:embed="rId5"/>
          <a:stretch>
            <a:fillRect/>
          </a:stretch>
        </p:blipFill>
        <p:spPr>
          <a:xfrm>
            <a:off x="183451" y="5187788"/>
            <a:ext cx="5620622" cy="737343"/>
          </a:xfrm>
          <a:prstGeom prst="rect">
            <a:avLst/>
          </a:prstGeom>
        </p:spPr>
      </p:pic>
      <p:pic>
        <p:nvPicPr>
          <p:cNvPr id="18" name="図 17"/>
          <p:cNvPicPr>
            <a:picLocks noChangeAspect="1"/>
          </p:cNvPicPr>
          <p:nvPr/>
        </p:nvPicPr>
        <p:blipFill>
          <a:blip r:embed="rId6"/>
          <a:stretch>
            <a:fillRect/>
          </a:stretch>
        </p:blipFill>
        <p:spPr>
          <a:xfrm>
            <a:off x="3280449" y="1519816"/>
            <a:ext cx="924292" cy="856959"/>
          </a:xfrm>
          <a:prstGeom prst="rect">
            <a:avLst/>
          </a:prstGeom>
        </p:spPr>
      </p:pic>
      <p:pic>
        <p:nvPicPr>
          <p:cNvPr id="27" name="図 26"/>
          <p:cNvPicPr>
            <a:picLocks noChangeAspect="1"/>
          </p:cNvPicPr>
          <p:nvPr/>
        </p:nvPicPr>
        <p:blipFill>
          <a:blip r:embed="rId7"/>
          <a:stretch>
            <a:fillRect/>
          </a:stretch>
        </p:blipFill>
        <p:spPr>
          <a:xfrm>
            <a:off x="365846" y="1673690"/>
            <a:ext cx="2719413" cy="1941256"/>
          </a:xfrm>
          <a:prstGeom prst="rect">
            <a:avLst/>
          </a:prstGeom>
        </p:spPr>
      </p:pic>
      <p:pic>
        <p:nvPicPr>
          <p:cNvPr id="43" name="図 42"/>
          <p:cNvPicPr>
            <a:picLocks noChangeAspect="1"/>
          </p:cNvPicPr>
          <p:nvPr/>
        </p:nvPicPr>
        <p:blipFill>
          <a:blip r:embed="rId6"/>
          <a:stretch>
            <a:fillRect/>
          </a:stretch>
        </p:blipFill>
        <p:spPr>
          <a:xfrm>
            <a:off x="3170184" y="6491093"/>
            <a:ext cx="924292" cy="856959"/>
          </a:xfrm>
          <a:prstGeom prst="rect">
            <a:avLst/>
          </a:prstGeom>
        </p:spPr>
      </p:pic>
      <p:pic>
        <p:nvPicPr>
          <p:cNvPr id="29" name="図 28"/>
          <p:cNvPicPr>
            <a:picLocks noChangeAspect="1"/>
          </p:cNvPicPr>
          <p:nvPr/>
        </p:nvPicPr>
        <p:blipFill>
          <a:blip r:embed="rId8"/>
          <a:stretch>
            <a:fillRect/>
          </a:stretch>
        </p:blipFill>
        <p:spPr>
          <a:xfrm>
            <a:off x="666212" y="6544683"/>
            <a:ext cx="2179760" cy="1848276"/>
          </a:xfrm>
          <a:prstGeom prst="rect">
            <a:avLst/>
          </a:prstGeom>
        </p:spPr>
      </p:pic>
    </p:spTree>
    <p:extLst>
      <p:ext uri="{BB962C8B-B14F-4D97-AF65-F5344CB8AC3E}">
        <p14:creationId xmlns:p14="http://schemas.microsoft.com/office/powerpoint/2010/main" val="34147042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2</a:t>
            </a:fld>
            <a:endParaRPr kumimoji="1" lang="ja-JP" altLang="en-US" dirty="0"/>
          </a:p>
        </p:txBody>
      </p:sp>
      <p:sp>
        <p:nvSpPr>
          <p:cNvPr id="24" name="角丸四角形 23"/>
          <p:cNvSpPr/>
          <p:nvPr/>
        </p:nvSpPr>
        <p:spPr>
          <a:xfrm>
            <a:off x="214032" y="1511440"/>
            <a:ext cx="6432657" cy="3446530"/>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7144" y="2670199"/>
            <a:ext cx="1007080" cy="973133"/>
          </a:xfrm>
          <a:prstGeom prst="rect">
            <a:avLst/>
          </a:prstGeom>
        </p:spPr>
      </p:pic>
      <p:pic>
        <p:nvPicPr>
          <p:cNvPr id="5" name="図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1921" y="2670199"/>
            <a:ext cx="999923" cy="945579"/>
          </a:xfrm>
          <a:prstGeom prst="rect">
            <a:avLst/>
          </a:prstGeom>
        </p:spPr>
      </p:pic>
      <p:pic>
        <p:nvPicPr>
          <p:cNvPr id="6" name="図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9260" y="1562155"/>
            <a:ext cx="1042584" cy="1042584"/>
          </a:xfrm>
          <a:prstGeom prst="rect">
            <a:avLst/>
          </a:prstGeom>
        </p:spPr>
      </p:pic>
      <p:pic>
        <p:nvPicPr>
          <p:cNvPr id="7" name="図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44549" y="1585847"/>
            <a:ext cx="1009675" cy="995319"/>
          </a:xfrm>
          <a:prstGeom prst="rect">
            <a:avLst/>
          </a:prstGeom>
        </p:spPr>
      </p:pic>
      <p:pic>
        <p:nvPicPr>
          <p:cNvPr id="8" name="図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99517" y="2611713"/>
            <a:ext cx="1030483" cy="1054173"/>
          </a:xfrm>
          <a:prstGeom prst="rect">
            <a:avLst/>
          </a:prstGeom>
        </p:spPr>
      </p:pic>
      <p:pic>
        <p:nvPicPr>
          <p:cNvPr id="9" name="図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28843" y="1585847"/>
            <a:ext cx="1128328" cy="1018892"/>
          </a:xfrm>
          <a:prstGeom prst="rect">
            <a:avLst/>
          </a:prstGeom>
        </p:spPr>
      </p:pic>
      <p:pic>
        <p:nvPicPr>
          <p:cNvPr id="10" name="図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00878" y="2664513"/>
            <a:ext cx="984257" cy="951265"/>
          </a:xfrm>
          <a:prstGeom prst="rect">
            <a:avLst/>
          </a:prstGeom>
        </p:spPr>
      </p:pic>
      <p:pic>
        <p:nvPicPr>
          <p:cNvPr id="3" name="図 2"/>
          <p:cNvPicPr>
            <a:picLocks noChangeAspect="1"/>
          </p:cNvPicPr>
          <p:nvPr/>
        </p:nvPicPr>
        <p:blipFill>
          <a:blip r:embed="rId10"/>
          <a:stretch>
            <a:fillRect/>
          </a:stretch>
        </p:blipFill>
        <p:spPr>
          <a:xfrm>
            <a:off x="-6858000" y="590280"/>
            <a:ext cx="5465618" cy="696704"/>
          </a:xfrm>
          <a:prstGeom prst="rect">
            <a:avLst/>
          </a:prstGeom>
        </p:spPr>
      </p:pic>
      <p:pic>
        <p:nvPicPr>
          <p:cNvPr id="11" name="図 10"/>
          <p:cNvPicPr>
            <a:picLocks noChangeAspect="1"/>
          </p:cNvPicPr>
          <p:nvPr/>
        </p:nvPicPr>
        <p:blipFill>
          <a:blip r:embed="rId11"/>
          <a:stretch>
            <a:fillRect/>
          </a:stretch>
        </p:blipFill>
        <p:spPr>
          <a:xfrm>
            <a:off x="-7022297" y="1787981"/>
            <a:ext cx="5465618" cy="698653"/>
          </a:xfrm>
          <a:prstGeom prst="rect">
            <a:avLst/>
          </a:prstGeom>
        </p:spPr>
      </p:pic>
      <p:pic>
        <p:nvPicPr>
          <p:cNvPr id="16" name="図 15"/>
          <p:cNvPicPr>
            <a:picLocks noChangeAspect="1"/>
          </p:cNvPicPr>
          <p:nvPr/>
        </p:nvPicPr>
        <p:blipFill>
          <a:blip r:embed="rId12"/>
          <a:stretch>
            <a:fillRect/>
          </a:stretch>
        </p:blipFill>
        <p:spPr>
          <a:xfrm>
            <a:off x="-6979274" y="4026344"/>
            <a:ext cx="5465618" cy="711280"/>
          </a:xfrm>
          <a:prstGeom prst="rect">
            <a:avLst/>
          </a:prstGeom>
        </p:spPr>
      </p:pic>
      <p:pic>
        <p:nvPicPr>
          <p:cNvPr id="17" name="図 16"/>
          <p:cNvPicPr>
            <a:picLocks noChangeAspect="1"/>
          </p:cNvPicPr>
          <p:nvPr/>
        </p:nvPicPr>
        <p:blipFill>
          <a:blip r:embed="rId13"/>
          <a:stretch>
            <a:fillRect/>
          </a:stretch>
        </p:blipFill>
        <p:spPr>
          <a:xfrm>
            <a:off x="-7096108" y="5136493"/>
            <a:ext cx="5465618" cy="701956"/>
          </a:xfrm>
          <a:prstGeom prst="rect">
            <a:avLst/>
          </a:prstGeom>
        </p:spPr>
      </p:pic>
      <p:pic>
        <p:nvPicPr>
          <p:cNvPr id="19" name="図 18"/>
          <p:cNvPicPr>
            <a:picLocks noChangeAspect="1"/>
          </p:cNvPicPr>
          <p:nvPr/>
        </p:nvPicPr>
        <p:blipFill>
          <a:blip r:embed="rId14"/>
          <a:stretch>
            <a:fillRect/>
          </a:stretch>
        </p:blipFill>
        <p:spPr>
          <a:xfrm>
            <a:off x="-7096108" y="6296979"/>
            <a:ext cx="5465618" cy="700583"/>
          </a:xfrm>
          <a:prstGeom prst="rect">
            <a:avLst/>
          </a:prstGeom>
        </p:spPr>
      </p:pic>
      <p:pic>
        <p:nvPicPr>
          <p:cNvPr id="20" name="図 19"/>
          <p:cNvPicPr>
            <a:picLocks noChangeAspect="1"/>
          </p:cNvPicPr>
          <p:nvPr/>
        </p:nvPicPr>
        <p:blipFill>
          <a:blip r:embed="rId15"/>
          <a:stretch>
            <a:fillRect/>
          </a:stretch>
        </p:blipFill>
        <p:spPr>
          <a:xfrm>
            <a:off x="-7051017" y="7390701"/>
            <a:ext cx="5465618" cy="685226"/>
          </a:xfrm>
          <a:prstGeom prst="rect">
            <a:avLst/>
          </a:prstGeom>
        </p:spPr>
      </p:pic>
      <p:pic>
        <p:nvPicPr>
          <p:cNvPr id="21" name="図 20"/>
          <p:cNvPicPr>
            <a:picLocks noChangeAspect="1"/>
          </p:cNvPicPr>
          <p:nvPr/>
        </p:nvPicPr>
        <p:blipFill>
          <a:blip r:embed="rId16"/>
          <a:stretch>
            <a:fillRect/>
          </a:stretch>
        </p:blipFill>
        <p:spPr>
          <a:xfrm>
            <a:off x="-6858000" y="8489151"/>
            <a:ext cx="5465618" cy="725524"/>
          </a:xfrm>
          <a:prstGeom prst="rect">
            <a:avLst/>
          </a:prstGeom>
        </p:spPr>
      </p:pic>
      <p:pic>
        <p:nvPicPr>
          <p:cNvPr id="22" name="図 21"/>
          <p:cNvPicPr>
            <a:picLocks noChangeAspect="1"/>
          </p:cNvPicPr>
          <p:nvPr/>
        </p:nvPicPr>
        <p:blipFill>
          <a:blip r:embed="rId17"/>
          <a:stretch>
            <a:fillRect/>
          </a:stretch>
        </p:blipFill>
        <p:spPr>
          <a:xfrm>
            <a:off x="-6858000" y="9443875"/>
            <a:ext cx="5465618" cy="691918"/>
          </a:xfrm>
          <a:prstGeom prst="rect">
            <a:avLst/>
          </a:prstGeom>
        </p:spPr>
      </p:pic>
      <p:pic>
        <p:nvPicPr>
          <p:cNvPr id="35" name="図 34"/>
          <p:cNvPicPr>
            <a:picLocks noChangeAspect="1"/>
          </p:cNvPicPr>
          <p:nvPr/>
        </p:nvPicPr>
        <p:blipFill>
          <a:blip r:embed="rId18"/>
          <a:stretch>
            <a:fillRect/>
          </a:stretch>
        </p:blipFill>
        <p:spPr>
          <a:xfrm>
            <a:off x="-6979274" y="2916702"/>
            <a:ext cx="5465618" cy="733061"/>
          </a:xfrm>
          <a:prstGeom prst="rect">
            <a:avLst/>
          </a:prstGeom>
        </p:spPr>
      </p:pic>
      <p:sp>
        <p:nvSpPr>
          <p:cNvPr id="50" name="角丸四角形 49"/>
          <p:cNvSpPr/>
          <p:nvPr/>
        </p:nvSpPr>
        <p:spPr>
          <a:xfrm>
            <a:off x="214032" y="5861004"/>
            <a:ext cx="6432657" cy="3761801"/>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5" name="グループ化 44"/>
          <p:cNvGrpSpPr/>
          <p:nvPr/>
        </p:nvGrpSpPr>
        <p:grpSpPr>
          <a:xfrm>
            <a:off x="504765" y="8136008"/>
            <a:ext cx="5851189" cy="1174276"/>
            <a:chOff x="-1664477" y="9051575"/>
            <a:chExt cx="5851189" cy="1174276"/>
          </a:xfrm>
        </p:grpSpPr>
        <p:pic>
          <p:nvPicPr>
            <p:cNvPr id="46" name="図 45"/>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83561" y="9051575"/>
              <a:ext cx="580737" cy="716596"/>
            </a:xfrm>
            <a:prstGeom prst="rect">
              <a:avLst/>
            </a:prstGeom>
          </p:spPr>
        </p:pic>
        <p:sp>
          <p:nvSpPr>
            <p:cNvPr id="47" name="テキスト ボックス 46"/>
            <p:cNvSpPr txBox="1"/>
            <p:nvPr/>
          </p:nvSpPr>
          <p:spPr>
            <a:xfrm>
              <a:off x="-1664477" y="9098766"/>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8" name="角丸四角形 47"/>
            <p:cNvSpPr/>
            <p:nvPr/>
          </p:nvSpPr>
          <p:spPr>
            <a:xfrm>
              <a:off x="-1664477" y="9477561"/>
              <a:ext cx="5851189" cy="748290"/>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Meiryo UI" panose="020B0604030504040204" pitchFamily="50" charset="-128"/>
                  <a:ea typeface="Meiryo UI" panose="020B0604030504040204" pitchFamily="50" charset="-128"/>
                </a:rPr>
                <a:t>入力した文字列の中に</a:t>
              </a:r>
              <a:r>
                <a:rPr lang="en-US" altLang="ja-JP" sz="1200" dirty="0" smtClean="0">
                  <a:solidFill>
                    <a:schemeClr val="tx1"/>
                  </a:solidFill>
                  <a:latin typeface="Meiryo UI" panose="020B0604030504040204" pitchFamily="50" charset="-128"/>
                  <a:ea typeface="Meiryo UI" panose="020B0604030504040204" pitchFamily="50" charset="-128"/>
                </a:rPr>
                <a:t>0</a:t>
              </a:r>
              <a:r>
                <a:rPr lang="ja-JP" altLang="en-US" sz="1200" dirty="0" smtClean="0">
                  <a:solidFill>
                    <a:schemeClr val="tx1"/>
                  </a:solidFill>
                  <a:latin typeface="Meiryo UI" panose="020B0604030504040204" pitchFamily="50" charset="-128"/>
                  <a:ea typeface="Meiryo UI" panose="020B0604030504040204" pitchFamily="50" charset="-128"/>
                </a:rPr>
                <a:t>から</a:t>
              </a:r>
              <a:r>
                <a:rPr lang="en-US" altLang="ja-JP" sz="1200" dirty="0" smtClean="0">
                  <a:solidFill>
                    <a:schemeClr val="tx1"/>
                  </a:solidFill>
                  <a:latin typeface="Meiryo UI" panose="020B0604030504040204" pitchFamily="50" charset="-128"/>
                  <a:ea typeface="Meiryo UI" panose="020B0604030504040204" pitchFamily="50" charset="-128"/>
                </a:rPr>
                <a:t>2</a:t>
              </a:r>
              <a:r>
                <a:rPr lang="ja-JP" altLang="en-US" sz="1200" dirty="0" smtClean="0">
                  <a:solidFill>
                    <a:schemeClr val="tx1"/>
                  </a:solidFill>
                  <a:latin typeface="Meiryo UI" panose="020B0604030504040204" pitchFamily="50" charset="-128"/>
                  <a:ea typeface="Meiryo UI" panose="020B0604030504040204" pitchFamily="50" charset="-128"/>
                </a:rPr>
                <a:t>の数字が</a:t>
              </a:r>
              <a:r>
                <a:rPr lang="ja-JP" altLang="en-US" sz="1200" dirty="0">
                  <a:solidFill>
                    <a:schemeClr val="tx1"/>
                  </a:solidFill>
                  <a:latin typeface="Meiryo UI" panose="020B0604030504040204" pitchFamily="50" charset="-128"/>
                  <a:ea typeface="Meiryo UI" panose="020B0604030504040204" pitchFamily="50" charset="-128"/>
                </a:rPr>
                <a:t>含まれている場合「</a:t>
              </a:r>
              <a:r>
                <a:rPr lang="en-US" altLang="ja-JP" sz="1200" dirty="0">
                  <a:solidFill>
                    <a:schemeClr val="tx1"/>
                  </a:solidFill>
                  <a:latin typeface="Meiryo UI" panose="020B0604030504040204" pitchFamily="50" charset="-128"/>
                  <a:ea typeface="Meiryo UI" panose="020B0604030504040204" pitchFamily="50" charset="-128"/>
                </a:rPr>
                <a:t>OK</a:t>
              </a:r>
              <a:r>
                <a:rPr lang="ja-JP" altLang="en-US" sz="1200" dirty="0">
                  <a:solidFill>
                    <a:schemeClr val="tx1"/>
                  </a:solidFill>
                  <a:latin typeface="Meiryo UI" panose="020B0604030504040204" pitchFamily="50" charset="-128"/>
                  <a:ea typeface="Meiryo UI" panose="020B0604030504040204" pitchFamily="50" charset="-128"/>
                </a:rPr>
                <a:t>」と答え、含まれていない</a:t>
              </a:r>
              <a:r>
                <a:rPr lang="ja-JP" altLang="en-US" sz="1200" dirty="0" smtClean="0">
                  <a:solidFill>
                    <a:schemeClr val="tx1"/>
                  </a:solidFill>
                  <a:latin typeface="Meiryo UI" panose="020B0604030504040204" pitchFamily="50" charset="-128"/>
                  <a:ea typeface="Meiryo UI" panose="020B0604030504040204" pitchFamily="50" charset="-128"/>
                </a:rPr>
                <a:t>なら</a:t>
              </a:r>
              <a:endParaRPr lang="en-US" altLang="ja-JP" sz="1200" dirty="0" smtClean="0">
                <a:solidFill>
                  <a:schemeClr val="tx1"/>
                </a:solidFill>
                <a:latin typeface="Meiryo UI" panose="020B0604030504040204" pitchFamily="50" charset="-128"/>
                <a:ea typeface="Meiryo UI" panose="020B0604030504040204" pitchFamily="50" charset="-128"/>
              </a:endParaRPr>
            </a:p>
            <a:p>
              <a:r>
                <a:rPr lang="ja-JP" altLang="en-US" sz="1200" dirty="0" smtClean="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まちがっています」と答えるプログラムです</a:t>
              </a:r>
              <a:r>
                <a:rPr lang="ja-JP" altLang="en-US" sz="1200" dirty="0" smtClean="0">
                  <a:solidFill>
                    <a:schemeClr val="tx1"/>
                  </a:solidFill>
                  <a:latin typeface="Meiryo UI" panose="020B0604030504040204" pitchFamily="50" charset="-128"/>
                  <a:ea typeface="Meiryo UI" panose="020B0604030504040204" pitchFamily="50" charset="-128"/>
                </a:rPr>
                <a:t>。</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または</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を使用することによって</a:t>
              </a:r>
              <a:r>
                <a:rPr lang="en-US" altLang="ja-JP" sz="1200" dirty="0" smtClean="0">
                  <a:solidFill>
                    <a:schemeClr val="tx1"/>
                  </a:solidFill>
                  <a:latin typeface="Meiryo UI" panose="020B0604030504040204" pitchFamily="50" charset="-128"/>
                  <a:ea typeface="Meiryo UI" panose="020B0604030504040204" pitchFamily="50" charset="-128"/>
                </a:rPr>
                <a:t>3</a:t>
              </a:r>
              <a:r>
                <a:rPr lang="ja-JP" altLang="en-US" sz="1200" dirty="0" err="1" smtClean="0">
                  <a:solidFill>
                    <a:schemeClr val="tx1"/>
                  </a:solidFill>
                  <a:latin typeface="Meiryo UI" panose="020B0604030504040204" pitchFamily="50" charset="-128"/>
                  <a:ea typeface="Meiryo UI" panose="020B0604030504040204" pitchFamily="50" charset="-128"/>
                </a:rPr>
                <a:t>つの</a:t>
              </a:r>
              <a:r>
                <a:rPr lang="ja-JP" altLang="en-US" sz="1200" dirty="0" smtClean="0">
                  <a:solidFill>
                    <a:schemeClr val="tx1"/>
                  </a:solidFill>
                  <a:latin typeface="Meiryo UI" panose="020B0604030504040204" pitchFamily="50" charset="-128"/>
                  <a:ea typeface="Meiryo UI" panose="020B0604030504040204" pitchFamily="50" charset="-128"/>
                </a:rPr>
                <a:t>数字をまとめて判定します。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grpSp>
        <p:nvGrpSpPr>
          <p:cNvPr id="52" name="グループ化 51"/>
          <p:cNvGrpSpPr/>
          <p:nvPr/>
        </p:nvGrpSpPr>
        <p:grpSpPr>
          <a:xfrm>
            <a:off x="322516" y="3525276"/>
            <a:ext cx="6223145" cy="1142582"/>
            <a:chOff x="506790" y="7958857"/>
            <a:chExt cx="6223145" cy="1142582"/>
          </a:xfrm>
        </p:grpSpPr>
        <p:pic>
          <p:nvPicPr>
            <p:cNvPr id="53" name="図 5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54" name="テキスト ボックス 53"/>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55" name="角丸四角形 54"/>
            <p:cNvSpPr/>
            <p:nvPr/>
          </p:nvSpPr>
          <p:spPr>
            <a:xfrm>
              <a:off x="506790" y="8434139"/>
              <a:ext cx="6223145" cy="667300"/>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Meiryo UI" panose="020B0604030504040204" pitchFamily="50" charset="-128"/>
                  <a:ea typeface="Meiryo UI" panose="020B0604030504040204" pitchFamily="50" charset="-128"/>
                </a:rPr>
                <a:t>入力した文字列の中に</a:t>
              </a:r>
              <a:r>
                <a:rPr lang="en-US" altLang="ja-JP" sz="1200" dirty="0">
                  <a:solidFill>
                    <a:schemeClr val="tx1"/>
                  </a:solidFill>
                  <a:latin typeface="Meiryo UI" panose="020B0604030504040204" pitchFamily="50" charset="-128"/>
                  <a:ea typeface="Meiryo UI" panose="020B0604030504040204" pitchFamily="50" charset="-128"/>
                </a:rPr>
                <a:t>0</a:t>
              </a:r>
              <a:r>
                <a:rPr lang="ja-JP" altLang="en-US" sz="1200" dirty="0">
                  <a:solidFill>
                    <a:schemeClr val="tx1"/>
                  </a:solidFill>
                  <a:latin typeface="Meiryo UI" panose="020B0604030504040204" pitchFamily="50" charset="-128"/>
                  <a:ea typeface="Meiryo UI" panose="020B0604030504040204" pitchFamily="50" charset="-128"/>
                </a:rPr>
                <a:t>か</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が含まれている</a:t>
              </a:r>
              <a:r>
                <a:rPr lang="ja-JP" altLang="en-US" sz="1200" dirty="0" smtClean="0">
                  <a:solidFill>
                    <a:schemeClr val="tx1"/>
                  </a:solidFill>
                  <a:latin typeface="Meiryo UI" panose="020B0604030504040204" pitchFamily="50" charset="-128"/>
                  <a:ea typeface="Meiryo UI" panose="020B0604030504040204" pitchFamily="50" charset="-128"/>
                </a:rPr>
                <a:t>場合「</a:t>
              </a:r>
              <a:r>
                <a:rPr lang="en-US" altLang="ja-JP" sz="1200" dirty="0">
                  <a:solidFill>
                    <a:schemeClr val="tx1"/>
                  </a:solidFill>
                  <a:latin typeface="Meiryo UI" panose="020B0604030504040204" pitchFamily="50" charset="-128"/>
                  <a:ea typeface="Meiryo UI" panose="020B0604030504040204" pitchFamily="50" charset="-128"/>
                </a:rPr>
                <a:t>OK</a:t>
              </a:r>
              <a:r>
                <a:rPr lang="ja-JP" altLang="en-US" sz="1200" dirty="0">
                  <a:solidFill>
                    <a:schemeClr val="tx1"/>
                  </a:solidFill>
                  <a:latin typeface="Meiryo UI" panose="020B0604030504040204" pitchFamily="50" charset="-128"/>
                  <a:ea typeface="Meiryo UI" panose="020B0604030504040204" pitchFamily="50" charset="-128"/>
                </a:rPr>
                <a:t>」と</a:t>
              </a:r>
              <a:r>
                <a:rPr lang="ja-JP" altLang="en-US" sz="1200" dirty="0" smtClean="0">
                  <a:solidFill>
                    <a:schemeClr val="tx1"/>
                  </a:solidFill>
                  <a:latin typeface="Meiryo UI" panose="020B0604030504040204" pitchFamily="50" charset="-128"/>
                  <a:ea typeface="Meiryo UI" panose="020B0604030504040204" pitchFamily="50" charset="-128"/>
                </a:rPr>
                <a:t>答え、含まれていないなら「まちがっています」と答えるプログラム</a:t>
              </a:r>
              <a:r>
                <a:rPr lang="ja-JP" altLang="en-US" sz="1200" dirty="0">
                  <a:solidFill>
                    <a:schemeClr val="tx1"/>
                  </a:solidFill>
                  <a:latin typeface="Meiryo UI" panose="020B0604030504040204" pitchFamily="50" charset="-128"/>
                  <a:ea typeface="Meiryo UI" panose="020B0604030504040204" pitchFamily="50" charset="-128"/>
                </a:rPr>
                <a:t>です</a:t>
              </a:r>
              <a:r>
                <a:rPr lang="ja-JP" altLang="en-US" sz="1200" dirty="0" smtClean="0">
                  <a:solidFill>
                    <a:schemeClr val="tx1"/>
                  </a:solidFill>
                  <a:latin typeface="Meiryo UI" panose="020B0604030504040204" pitchFamily="50" charset="-128"/>
                  <a:ea typeface="Meiryo UI" panose="020B0604030504040204" pitchFamily="50" charset="-128"/>
                </a:rPr>
                <a:t>。</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または</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を使用することで複数の条件の中で、</a:t>
              </a:r>
              <a:r>
                <a:rPr lang="en-US" altLang="ja-JP" sz="1200" dirty="0" smtClean="0">
                  <a:solidFill>
                    <a:schemeClr val="tx1"/>
                  </a:solidFill>
                  <a:latin typeface="Meiryo UI" panose="020B0604030504040204" pitchFamily="50" charset="-128"/>
                  <a:ea typeface="Meiryo UI" panose="020B0604030504040204" pitchFamily="50" charset="-128"/>
                </a:rPr>
                <a:t>1</a:t>
              </a:r>
              <a:r>
                <a:rPr lang="ja-JP" altLang="en-US" sz="1200" dirty="0" smtClean="0">
                  <a:solidFill>
                    <a:schemeClr val="tx1"/>
                  </a:solidFill>
                  <a:latin typeface="Meiryo UI" panose="020B0604030504040204" pitchFamily="50" charset="-128"/>
                  <a:ea typeface="Meiryo UI" panose="020B0604030504040204" pitchFamily="50" charset="-128"/>
                </a:rPr>
                <a:t>つでも満たしている場合に</a:t>
              </a:r>
              <a:endParaRPr lang="en-US" altLang="ja-JP" sz="1200" dirty="0" smtClean="0">
                <a:solidFill>
                  <a:schemeClr val="tx1"/>
                </a:solidFill>
                <a:latin typeface="Meiryo UI" panose="020B0604030504040204" pitchFamily="50" charset="-128"/>
                <a:ea typeface="Meiryo UI" panose="020B0604030504040204" pitchFamily="50" charset="-128"/>
              </a:endParaRPr>
            </a:p>
            <a:p>
              <a:r>
                <a:rPr lang="ja-JP" altLang="en-US" sz="1200" dirty="0" smtClean="0">
                  <a:solidFill>
                    <a:schemeClr val="tx1"/>
                  </a:solidFill>
                  <a:latin typeface="Meiryo UI" panose="020B0604030504040204" pitchFamily="50" charset="-128"/>
                  <a:ea typeface="Meiryo UI" panose="020B0604030504040204" pitchFamily="50" charset="-128"/>
                </a:rPr>
                <a:t>判定を出すことができます。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2" name="図 1"/>
          <p:cNvPicPr>
            <a:picLocks noChangeAspect="1"/>
          </p:cNvPicPr>
          <p:nvPr/>
        </p:nvPicPr>
        <p:blipFill>
          <a:blip r:embed="rId20"/>
          <a:stretch>
            <a:fillRect/>
          </a:stretch>
        </p:blipFill>
        <p:spPr>
          <a:xfrm>
            <a:off x="78959" y="747876"/>
            <a:ext cx="5345998" cy="675155"/>
          </a:xfrm>
          <a:prstGeom prst="rect">
            <a:avLst/>
          </a:prstGeom>
        </p:spPr>
      </p:pic>
      <p:pic>
        <p:nvPicPr>
          <p:cNvPr id="13" name="図 12"/>
          <p:cNvPicPr>
            <a:picLocks noChangeAspect="1"/>
          </p:cNvPicPr>
          <p:nvPr/>
        </p:nvPicPr>
        <p:blipFill>
          <a:blip r:embed="rId21"/>
          <a:stretch>
            <a:fillRect/>
          </a:stretch>
        </p:blipFill>
        <p:spPr>
          <a:xfrm>
            <a:off x="152589" y="5075417"/>
            <a:ext cx="5552823" cy="715669"/>
          </a:xfrm>
          <a:prstGeom prst="rect">
            <a:avLst/>
          </a:prstGeom>
        </p:spPr>
      </p:pic>
      <p:pic>
        <p:nvPicPr>
          <p:cNvPr id="39" name="図 38"/>
          <p:cNvPicPr>
            <a:picLocks noChangeAspect="1"/>
          </p:cNvPicPr>
          <p:nvPr/>
        </p:nvPicPr>
        <p:blipFill>
          <a:blip r:embed="rId22"/>
          <a:stretch>
            <a:fillRect/>
          </a:stretch>
        </p:blipFill>
        <p:spPr>
          <a:xfrm>
            <a:off x="4017644" y="1585847"/>
            <a:ext cx="924292" cy="856959"/>
          </a:xfrm>
          <a:prstGeom prst="rect">
            <a:avLst/>
          </a:prstGeom>
        </p:spPr>
      </p:pic>
      <p:pic>
        <p:nvPicPr>
          <p:cNvPr id="15" name="図 14"/>
          <p:cNvPicPr>
            <a:picLocks noChangeAspect="1"/>
          </p:cNvPicPr>
          <p:nvPr/>
        </p:nvPicPr>
        <p:blipFill>
          <a:blip r:embed="rId23"/>
          <a:stretch>
            <a:fillRect/>
          </a:stretch>
        </p:blipFill>
        <p:spPr>
          <a:xfrm>
            <a:off x="312717" y="1754946"/>
            <a:ext cx="3504700" cy="1616941"/>
          </a:xfrm>
          <a:prstGeom prst="rect">
            <a:avLst/>
          </a:prstGeom>
        </p:spPr>
      </p:pic>
      <p:pic>
        <p:nvPicPr>
          <p:cNvPr id="18" name="図 17"/>
          <p:cNvPicPr>
            <a:picLocks noChangeAspect="1"/>
          </p:cNvPicPr>
          <p:nvPr/>
        </p:nvPicPr>
        <p:blipFill>
          <a:blip r:embed="rId24"/>
          <a:stretch>
            <a:fillRect/>
          </a:stretch>
        </p:blipFill>
        <p:spPr>
          <a:xfrm>
            <a:off x="322516" y="6209862"/>
            <a:ext cx="5023284" cy="1613625"/>
          </a:xfrm>
          <a:prstGeom prst="rect">
            <a:avLst/>
          </a:prstGeom>
        </p:spPr>
      </p:pic>
      <p:pic>
        <p:nvPicPr>
          <p:cNvPr id="42" name="図 41"/>
          <p:cNvPicPr>
            <a:picLocks noChangeAspect="1"/>
          </p:cNvPicPr>
          <p:nvPr/>
        </p:nvPicPr>
        <p:blipFill>
          <a:blip r:embed="rId22"/>
          <a:stretch>
            <a:fillRect/>
          </a:stretch>
        </p:blipFill>
        <p:spPr>
          <a:xfrm>
            <a:off x="5534098" y="6123053"/>
            <a:ext cx="924292" cy="856959"/>
          </a:xfrm>
          <a:prstGeom prst="rect">
            <a:avLst/>
          </a:prstGeom>
        </p:spPr>
      </p:pic>
    </p:spTree>
    <p:extLst>
      <p:ext uri="{BB962C8B-B14F-4D97-AF65-F5344CB8AC3E}">
        <p14:creationId xmlns:p14="http://schemas.microsoft.com/office/powerpoint/2010/main" val="29705775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3</a:t>
            </a:fld>
            <a:endParaRPr kumimoji="1" lang="ja-JP" altLang="en-US" dirty="0"/>
          </a:p>
        </p:txBody>
      </p:sp>
      <p:sp>
        <p:nvSpPr>
          <p:cNvPr id="24" name="角丸四角形 23"/>
          <p:cNvSpPr/>
          <p:nvPr/>
        </p:nvSpPr>
        <p:spPr>
          <a:xfrm>
            <a:off x="214032" y="1511439"/>
            <a:ext cx="5671937" cy="3436713"/>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7144" y="2670199"/>
            <a:ext cx="1007080" cy="973133"/>
          </a:xfrm>
          <a:prstGeom prst="rect">
            <a:avLst/>
          </a:prstGeom>
        </p:spPr>
      </p:pic>
      <p:pic>
        <p:nvPicPr>
          <p:cNvPr id="5" name="図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1921" y="2670199"/>
            <a:ext cx="999923" cy="945579"/>
          </a:xfrm>
          <a:prstGeom prst="rect">
            <a:avLst/>
          </a:prstGeom>
        </p:spPr>
      </p:pic>
      <p:pic>
        <p:nvPicPr>
          <p:cNvPr id="6" name="図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9260" y="1562155"/>
            <a:ext cx="1042584" cy="1042584"/>
          </a:xfrm>
          <a:prstGeom prst="rect">
            <a:avLst/>
          </a:prstGeom>
        </p:spPr>
      </p:pic>
      <p:pic>
        <p:nvPicPr>
          <p:cNvPr id="7" name="図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44549" y="1585847"/>
            <a:ext cx="1009675" cy="995319"/>
          </a:xfrm>
          <a:prstGeom prst="rect">
            <a:avLst/>
          </a:prstGeom>
        </p:spPr>
      </p:pic>
      <p:pic>
        <p:nvPicPr>
          <p:cNvPr id="8" name="図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99517" y="2611713"/>
            <a:ext cx="1030483" cy="1054173"/>
          </a:xfrm>
          <a:prstGeom prst="rect">
            <a:avLst/>
          </a:prstGeom>
        </p:spPr>
      </p:pic>
      <p:pic>
        <p:nvPicPr>
          <p:cNvPr id="9" name="図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28843" y="1585847"/>
            <a:ext cx="1128328" cy="1018892"/>
          </a:xfrm>
          <a:prstGeom prst="rect">
            <a:avLst/>
          </a:prstGeom>
        </p:spPr>
      </p:pic>
      <p:pic>
        <p:nvPicPr>
          <p:cNvPr id="10" name="図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00878" y="2664513"/>
            <a:ext cx="984257" cy="951265"/>
          </a:xfrm>
          <a:prstGeom prst="rect">
            <a:avLst/>
          </a:prstGeom>
        </p:spPr>
      </p:pic>
      <p:pic>
        <p:nvPicPr>
          <p:cNvPr id="3" name="図 2"/>
          <p:cNvPicPr>
            <a:picLocks noChangeAspect="1"/>
          </p:cNvPicPr>
          <p:nvPr/>
        </p:nvPicPr>
        <p:blipFill>
          <a:blip r:embed="rId10"/>
          <a:stretch>
            <a:fillRect/>
          </a:stretch>
        </p:blipFill>
        <p:spPr>
          <a:xfrm>
            <a:off x="-6858000" y="590280"/>
            <a:ext cx="5465618" cy="696704"/>
          </a:xfrm>
          <a:prstGeom prst="rect">
            <a:avLst/>
          </a:prstGeom>
        </p:spPr>
      </p:pic>
      <p:pic>
        <p:nvPicPr>
          <p:cNvPr id="11" name="図 10"/>
          <p:cNvPicPr>
            <a:picLocks noChangeAspect="1"/>
          </p:cNvPicPr>
          <p:nvPr/>
        </p:nvPicPr>
        <p:blipFill>
          <a:blip r:embed="rId11"/>
          <a:stretch>
            <a:fillRect/>
          </a:stretch>
        </p:blipFill>
        <p:spPr>
          <a:xfrm>
            <a:off x="-7022297" y="1787981"/>
            <a:ext cx="5465618" cy="698653"/>
          </a:xfrm>
          <a:prstGeom prst="rect">
            <a:avLst/>
          </a:prstGeom>
        </p:spPr>
      </p:pic>
      <p:pic>
        <p:nvPicPr>
          <p:cNvPr id="16" name="図 15"/>
          <p:cNvPicPr>
            <a:picLocks noChangeAspect="1"/>
          </p:cNvPicPr>
          <p:nvPr/>
        </p:nvPicPr>
        <p:blipFill>
          <a:blip r:embed="rId12"/>
          <a:stretch>
            <a:fillRect/>
          </a:stretch>
        </p:blipFill>
        <p:spPr>
          <a:xfrm>
            <a:off x="-6979274" y="4026344"/>
            <a:ext cx="5465618" cy="711280"/>
          </a:xfrm>
          <a:prstGeom prst="rect">
            <a:avLst/>
          </a:prstGeom>
        </p:spPr>
      </p:pic>
      <p:pic>
        <p:nvPicPr>
          <p:cNvPr id="17" name="図 16"/>
          <p:cNvPicPr>
            <a:picLocks noChangeAspect="1"/>
          </p:cNvPicPr>
          <p:nvPr/>
        </p:nvPicPr>
        <p:blipFill>
          <a:blip r:embed="rId13"/>
          <a:stretch>
            <a:fillRect/>
          </a:stretch>
        </p:blipFill>
        <p:spPr>
          <a:xfrm>
            <a:off x="-7096108" y="5136493"/>
            <a:ext cx="5465618" cy="701956"/>
          </a:xfrm>
          <a:prstGeom prst="rect">
            <a:avLst/>
          </a:prstGeom>
        </p:spPr>
      </p:pic>
      <p:pic>
        <p:nvPicPr>
          <p:cNvPr id="19" name="図 18"/>
          <p:cNvPicPr>
            <a:picLocks noChangeAspect="1"/>
          </p:cNvPicPr>
          <p:nvPr/>
        </p:nvPicPr>
        <p:blipFill>
          <a:blip r:embed="rId14"/>
          <a:stretch>
            <a:fillRect/>
          </a:stretch>
        </p:blipFill>
        <p:spPr>
          <a:xfrm>
            <a:off x="-7096108" y="6296979"/>
            <a:ext cx="5465618" cy="700583"/>
          </a:xfrm>
          <a:prstGeom prst="rect">
            <a:avLst/>
          </a:prstGeom>
        </p:spPr>
      </p:pic>
      <p:pic>
        <p:nvPicPr>
          <p:cNvPr id="20" name="図 19"/>
          <p:cNvPicPr>
            <a:picLocks noChangeAspect="1"/>
          </p:cNvPicPr>
          <p:nvPr/>
        </p:nvPicPr>
        <p:blipFill>
          <a:blip r:embed="rId15"/>
          <a:stretch>
            <a:fillRect/>
          </a:stretch>
        </p:blipFill>
        <p:spPr>
          <a:xfrm>
            <a:off x="-7051017" y="7390701"/>
            <a:ext cx="5465618" cy="685226"/>
          </a:xfrm>
          <a:prstGeom prst="rect">
            <a:avLst/>
          </a:prstGeom>
        </p:spPr>
      </p:pic>
      <p:pic>
        <p:nvPicPr>
          <p:cNvPr id="21" name="図 20"/>
          <p:cNvPicPr>
            <a:picLocks noChangeAspect="1"/>
          </p:cNvPicPr>
          <p:nvPr/>
        </p:nvPicPr>
        <p:blipFill>
          <a:blip r:embed="rId16"/>
          <a:stretch>
            <a:fillRect/>
          </a:stretch>
        </p:blipFill>
        <p:spPr>
          <a:xfrm>
            <a:off x="-6858000" y="8489151"/>
            <a:ext cx="5465618" cy="725524"/>
          </a:xfrm>
          <a:prstGeom prst="rect">
            <a:avLst/>
          </a:prstGeom>
        </p:spPr>
      </p:pic>
      <p:pic>
        <p:nvPicPr>
          <p:cNvPr id="22" name="図 21"/>
          <p:cNvPicPr>
            <a:picLocks noChangeAspect="1"/>
          </p:cNvPicPr>
          <p:nvPr/>
        </p:nvPicPr>
        <p:blipFill>
          <a:blip r:embed="rId17"/>
          <a:stretch>
            <a:fillRect/>
          </a:stretch>
        </p:blipFill>
        <p:spPr>
          <a:xfrm>
            <a:off x="-6858000" y="9443875"/>
            <a:ext cx="5465618" cy="691918"/>
          </a:xfrm>
          <a:prstGeom prst="rect">
            <a:avLst/>
          </a:prstGeom>
        </p:spPr>
      </p:pic>
      <p:pic>
        <p:nvPicPr>
          <p:cNvPr id="35" name="図 34"/>
          <p:cNvPicPr>
            <a:picLocks noChangeAspect="1"/>
          </p:cNvPicPr>
          <p:nvPr/>
        </p:nvPicPr>
        <p:blipFill>
          <a:blip r:embed="rId18"/>
          <a:stretch>
            <a:fillRect/>
          </a:stretch>
        </p:blipFill>
        <p:spPr>
          <a:xfrm>
            <a:off x="-6979274" y="2916702"/>
            <a:ext cx="5465618" cy="733061"/>
          </a:xfrm>
          <a:prstGeom prst="rect">
            <a:avLst/>
          </a:prstGeom>
        </p:spPr>
      </p:pic>
      <p:grpSp>
        <p:nvGrpSpPr>
          <p:cNvPr id="45" name="グループ化 44"/>
          <p:cNvGrpSpPr/>
          <p:nvPr/>
        </p:nvGrpSpPr>
        <p:grpSpPr>
          <a:xfrm>
            <a:off x="385382" y="3312629"/>
            <a:ext cx="5329236" cy="1299217"/>
            <a:chOff x="636468" y="7958857"/>
            <a:chExt cx="5329236" cy="1299217"/>
          </a:xfrm>
        </p:grpSpPr>
        <p:pic>
          <p:nvPicPr>
            <p:cNvPr id="46" name="図 45"/>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47" name="テキスト ボックス 46"/>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8" name="角丸四角形 47"/>
            <p:cNvSpPr/>
            <p:nvPr/>
          </p:nvSpPr>
          <p:spPr>
            <a:xfrm>
              <a:off x="636468" y="8434139"/>
              <a:ext cx="5329236" cy="823935"/>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Meiryo UI" panose="020B0604030504040204" pitchFamily="50" charset="-128"/>
                  <a:ea typeface="Meiryo UI" panose="020B0604030504040204" pitchFamily="50" charset="-128"/>
                </a:rPr>
                <a:t>入力した文字列の中に</a:t>
              </a:r>
              <a:r>
                <a:rPr lang="en-US" altLang="ja-JP" sz="1200" dirty="0" smtClean="0">
                  <a:solidFill>
                    <a:schemeClr val="tx1"/>
                  </a:solidFill>
                  <a:latin typeface="Meiryo UI" panose="020B0604030504040204" pitchFamily="50" charset="-128"/>
                  <a:ea typeface="Meiryo UI" panose="020B0604030504040204" pitchFamily="50" charset="-128"/>
                </a:rPr>
                <a:t>0</a:t>
              </a:r>
              <a:r>
                <a:rPr lang="ja-JP" altLang="en-US" sz="1200" dirty="0" smtClean="0">
                  <a:solidFill>
                    <a:schemeClr val="tx1"/>
                  </a:solidFill>
                  <a:latin typeface="Meiryo UI" panose="020B0604030504040204" pitchFamily="50" charset="-128"/>
                  <a:ea typeface="Meiryo UI" panose="020B0604030504040204" pitchFamily="50" charset="-128"/>
                </a:rPr>
                <a:t>と</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smtClean="0">
                  <a:solidFill>
                    <a:schemeClr val="tx1"/>
                  </a:solidFill>
                  <a:latin typeface="Meiryo UI" panose="020B0604030504040204" pitchFamily="50" charset="-128"/>
                  <a:ea typeface="Meiryo UI" panose="020B0604030504040204" pitchFamily="50" charset="-128"/>
                </a:rPr>
                <a:t>の両方の数字</a:t>
              </a:r>
              <a:r>
                <a:rPr lang="ja-JP" altLang="en-US" sz="1200" dirty="0">
                  <a:solidFill>
                    <a:schemeClr val="tx1"/>
                  </a:solidFill>
                  <a:latin typeface="Meiryo UI" panose="020B0604030504040204" pitchFamily="50" charset="-128"/>
                  <a:ea typeface="Meiryo UI" panose="020B0604030504040204" pitchFamily="50" charset="-128"/>
                </a:rPr>
                <a:t>が含まれている場合「</a:t>
              </a:r>
              <a:r>
                <a:rPr lang="en-US" altLang="ja-JP" sz="1200" dirty="0">
                  <a:solidFill>
                    <a:schemeClr val="tx1"/>
                  </a:solidFill>
                  <a:latin typeface="Meiryo UI" panose="020B0604030504040204" pitchFamily="50" charset="-128"/>
                  <a:ea typeface="Meiryo UI" panose="020B0604030504040204" pitchFamily="50" charset="-128"/>
                </a:rPr>
                <a:t>OK</a:t>
              </a:r>
              <a:r>
                <a:rPr lang="ja-JP" altLang="en-US" sz="1200" dirty="0">
                  <a:solidFill>
                    <a:schemeClr val="tx1"/>
                  </a:solidFill>
                  <a:latin typeface="Meiryo UI" panose="020B0604030504040204" pitchFamily="50" charset="-128"/>
                  <a:ea typeface="Meiryo UI" panose="020B0604030504040204" pitchFamily="50" charset="-128"/>
                </a:rPr>
                <a:t>」と答え、含まれていない</a:t>
              </a:r>
              <a:r>
                <a:rPr lang="ja-JP" altLang="en-US" sz="1200" dirty="0" smtClean="0">
                  <a:solidFill>
                    <a:schemeClr val="tx1"/>
                  </a:solidFill>
                  <a:latin typeface="Meiryo UI" panose="020B0604030504040204" pitchFamily="50" charset="-128"/>
                  <a:ea typeface="Meiryo UI" panose="020B0604030504040204" pitchFamily="50" charset="-128"/>
                </a:rPr>
                <a:t>なら「</a:t>
              </a:r>
              <a:r>
                <a:rPr lang="ja-JP" altLang="en-US" sz="1200" dirty="0">
                  <a:solidFill>
                    <a:schemeClr val="tx1"/>
                  </a:solidFill>
                  <a:latin typeface="Meiryo UI" panose="020B0604030504040204" pitchFamily="50" charset="-128"/>
                  <a:ea typeface="Meiryo UI" panose="020B0604030504040204" pitchFamily="50" charset="-128"/>
                </a:rPr>
                <a:t>まちがっています」と答えるプログラムです</a:t>
              </a:r>
              <a:r>
                <a:rPr lang="ja-JP" altLang="en-US" sz="1200" dirty="0" smtClean="0">
                  <a:solidFill>
                    <a:schemeClr val="tx1"/>
                  </a:solidFill>
                  <a:latin typeface="Meiryo UI" panose="020B0604030504040204" pitchFamily="50" charset="-128"/>
                  <a:ea typeface="Meiryo UI" panose="020B0604030504040204" pitchFamily="50" charset="-128"/>
                </a:rPr>
                <a:t>。</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かつ</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を使用することで同時に条件を満たす場合のみ判定を出すことができます。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2" name="図 1"/>
          <p:cNvPicPr>
            <a:picLocks noChangeAspect="1"/>
          </p:cNvPicPr>
          <p:nvPr/>
        </p:nvPicPr>
        <p:blipFill>
          <a:blip r:embed="rId20"/>
          <a:stretch>
            <a:fillRect/>
          </a:stretch>
        </p:blipFill>
        <p:spPr>
          <a:xfrm>
            <a:off x="148523" y="696754"/>
            <a:ext cx="5802954" cy="748768"/>
          </a:xfrm>
          <a:prstGeom prst="rect">
            <a:avLst/>
          </a:prstGeom>
        </p:spPr>
      </p:pic>
      <p:pic>
        <p:nvPicPr>
          <p:cNvPr id="14" name="図 13"/>
          <p:cNvPicPr>
            <a:picLocks noChangeAspect="1"/>
          </p:cNvPicPr>
          <p:nvPr/>
        </p:nvPicPr>
        <p:blipFill>
          <a:blip r:embed="rId21"/>
          <a:stretch>
            <a:fillRect/>
          </a:stretch>
        </p:blipFill>
        <p:spPr>
          <a:xfrm>
            <a:off x="248202" y="5161214"/>
            <a:ext cx="5703275" cy="710443"/>
          </a:xfrm>
          <a:prstGeom prst="rect">
            <a:avLst/>
          </a:prstGeom>
        </p:spPr>
      </p:pic>
      <p:sp>
        <p:nvSpPr>
          <p:cNvPr id="32" name="角丸四角形 31"/>
          <p:cNvSpPr/>
          <p:nvPr/>
        </p:nvSpPr>
        <p:spPr>
          <a:xfrm>
            <a:off x="279540" y="6024281"/>
            <a:ext cx="6059788" cy="3656431"/>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8" name="グループ化 37"/>
          <p:cNvGrpSpPr/>
          <p:nvPr/>
        </p:nvGrpSpPr>
        <p:grpSpPr>
          <a:xfrm>
            <a:off x="536762" y="7798753"/>
            <a:ext cx="5329236" cy="1415922"/>
            <a:chOff x="636468" y="7958857"/>
            <a:chExt cx="5329236" cy="1415922"/>
          </a:xfrm>
        </p:grpSpPr>
        <p:pic>
          <p:nvPicPr>
            <p:cNvPr id="39" name="図 38"/>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40" name="テキスト ボックス 39"/>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1" name="角丸四角形 40"/>
            <p:cNvSpPr/>
            <p:nvPr/>
          </p:nvSpPr>
          <p:spPr>
            <a:xfrm>
              <a:off x="636468" y="8434139"/>
              <a:ext cx="5329236" cy="940640"/>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Meiryo UI" panose="020B0604030504040204" pitchFamily="50" charset="-128"/>
                  <a:ea typeface="Meiryo UI" panose="020B0604030504040204" pitchFamily="50" charset="-128"/>
                </a:rPr>
                <a:t>入力した文字列の中に</a:t>
              </a:r>
              <a:r>
                <a:rPr lang="en-US" altLang="ja-JP" sz="1200" dirty="0" smtClean="0">
                  <a:solidFill>
                    <a:schemeClr val="tx1"/>
                  </a:solidFill>
                  <a:latin typeface="Meiryo UI" panose="020B0604030504040204" pitchFamily="50" charset="-128"/>
                  <a:ea typeface="Meiryo UI" panose="020B0604030504040204" pitchFamily="50" charset="-128"/>
                </a:rPr>
                <a:t>0</a:t>
              </a:r>
              <a:r>
                <a:rPr lang="ja-JP" altLang="en-US" sz="1200" dirty="0" smtClean="0">
                  <a:solidFill>
                    <a:schemeClr val="tx1"/>
                  </a:solidFill>
                  <a:latin typeface="Meiryo UI" panose="020B0604030504040204" pitchFamily="50" charset="-128"/>
                  <a:ea typeface="Meiryo UI" panose="020B0604030504040204" pitchFamily="50" charset="-128"/>
                </a:rPr>
                <a:t>から</a:t>
              </a:r>
              <a:r>
                <a:rPr lang="en-US" altLang="ja-JP" sz="1200" dirty="0" smtClean="0">
                  <a:solidFill>
                    <a:schemeClr val="tx1"/>
                  </a:solidFill>
                  <a:latin typeface="Meiryo UI" panose="020B0604030504040204" pitchFamily="50" charset="-128"/>
                  <a:ea typeface="Meiryo UI" panose="020B0604030504040204" pitchFamily="50" charset="-128"/>
                </a:rPr>
                <a:t>4</a:t>
              </a:r>
              <a:r>
                <a:rPr lang="ja-JP" altLang="en-US" sz="1200" dirty="0" err="1" smtClean="0">
                  <a:solidFill>
                    <a:schemeClr val="tx1"/>
                  </a:solidFill>
                  <a:latin typeface="Meiryo UI" panose="020B0604030504040204" pitchFamily="50" charset="-128"/>
                  <a:ea typeface="Meiryo UI" panose="020B0604030504040204" pitchFamily="50" charset="-128"/>
                </a:rPr>
                <a:t>まで</a:t>
              </a:r>
              <a:r>
                <a:rPr lang="ja-JP" altLang="en-US" sz="1200" dirty="0" smtClean="0">
                  <a:solidFill>
                    <a:schemeClr val="tx1"/>
                  </a:solidFill>
                  <a:latin typeface="Meiryo UI" panose="020B0604030504040204" pitchFamily="50" charset="-128"/>
                  <a:ea typeface="Meiryo UI" panose="020B0604030504040204" pitchFamily="50" charset="-128"/>
                </a:rPr>
                <a:t>数字が全て含まれて</a:t>
              </a:r>
              <a:r>
                <a:rPr lang="ja-JP" altLang="en-US" sz="1200" dirty="0">
                  <a:solidFill>
                    <a:schemeClr val="tx1"/>
                  </a:solidFill>
                  <a:latin typeface="Meiryo UI" panose="020B0604030504040204" pitchFamily="50" charset="-128"/>
                  <a:ea typeface="Meiryo UI" panose="020B0604030504040204" pitchFamily="50" charset="-128"/>
                </a:rPr>
                <a:t>いる場合「</a:t>
              </a:r>
              <a:r>
                <a:rPr lang="en-US" altLang="ja-JP" sz="1200" dirty="0">
                  <a:solidFill>
                    <a:schemeClr val="tx1"/>
                  </a:solidFill>
                  <a:latin typeface="Meiryo UI" panose="020B0604030504040204" pitchFamily="50" charset="-128"/>
                  <a:ea typeface="Meiryo UI" panose="020B0604030504040204" pitchFamily="50" charset="-128"/>
                </a:rPr>
                <a:t>OK</a:t>
              </a:r>
              <a:r>
                <a:rPr lang="ja-JP" altLang="en-US" sz="1200" dirty="0">
                  <a:solidFill>
                    <a:schemeClr val="tx1"/>
                  </a:solidFill>
                  <a:latin typeface="Meiryo UI" panose="020B0604030504040204" pitchFamily="50" charset="-128"/>
                  <a:ea typeface="Meiryo UI" panose="020B0604030504040204" pitchFamily="50" charset="-128"/>
                </a:rPr>
                <a:t>」と答え、含まれていないなら「まちがっています」と答えるプログラムです</a:t>
              </a:r>
              <a:r>
                <a:rPr lang="ja-JP" altLang="en-US" sz="1200" dirty="0" smtClean="0">
                  <a:solidFill>
                    <a:schemeClr val="tx1"/>
                  </a:solidFill>
                  <a:latin typeface="Meiryo UI" panose="020B0604030504040204" pitchFamily="50" charset="-128"/>
                  <a:ea typeface="Meiryo UI" panose="020B0604030504040204" pitchFamily="50" charset="-128"/>
                </a:rPr>
                <a:t>。</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かつ</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や</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または</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などはいくつも繋げて使用することができます。ただし、複雑になるにつれて条件管理が難しくなるため注意が必要です。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15" name="図 14"/>
          <p:cNvPicPr>
            <a:picLocks noChangeAspect="1"/>
          </p:cNvPicPr>
          <p:nvPr/>
        </p:nvPicPr>
        <p:blipFill>
          <a:blip r:embed="rId22"/>
          <a:stretch>
            <a:fillRect/>
          </a:stretch>
        </p:blipFill>
        <p:spPr>
          <a:xfrm>
            <a:off x="319349" y="1688200"/>
            <a:ext cx="3292148" cy="1565308"/>
          </a:xfrm>
          <a:prstGeom prst="rect">
            <a:avLst/>
          </a:prstGeom>
        </p:spPr>
      </p:pic>
      <p:pic>
        <p:nvPicPr>
          <p:cNvPr id="42" name="図 41"/>
          <p:cNvPicPr>
            <a:picLocks noChangeAspect="1"/>
          </p:cNvPicPr>
          <p:nvPr/>
        </p:nvPicPr>
        <p:blipFill>
          <a:blip r:embed="rId23"/>
          <a:stretch>
            <a:fillRect/>
          </a:stretch>
        </p:blipFill>
        <p:spPr>
          <a:xfrm>
            <a:off x="3932513" y="1710085"/>
            <a:ext cx="837564" cy="776549"/>
          </a:xfrm>
          <a:prstGeom prst="rect">
            <a:avLst/>
          </a:prstGeom>
        </p:spPr>
      </p:pic>
      <p:pic>
        <p:nvPicPr>
          <p:cNvPr id="23" name="図 22"/>
          <p:cNvPicPr>
            <a:picLocks noChangeAspect="1"/>
          </p:cNvPicPr>
          <p:nvPr/>
        </p:nvPicPr>
        <p:blipFill>
          <a:blip r:embed="rId24"/>
          <a:stretch>
            <a:fillRect/>
          </a:stretch>
        </p:blipFill>
        <p:spPr>
          <a:xfrm>
            <a:off x="428055" y="6488137"/>
            <a:ext cx="5546649" cy="1146712"/>
          </a:xfrm>
          <a:prstGeom prst="rect">
            <a:avLst/>
          </a:prstGeom>
        </p:spPr>
      </p:pic>
      <p:pic>
        <p:nvPicPr>
          <p:cNvPr id="43" name="図 42"/>
          <p:cNvPicPr>
            <a:picLocks noChangeAspect="1"/>
          </p:cNvPicPr>
          <p:nvPr/>
        </p:nvPicPr>
        <p:blipFill>
          <a:blip r:embed="rId23"/>
          <a:stretch>
            <a:fillRect/>
          </a:stretch>
        </p:blipFill>
        <p:spPr>
          <a:xfrm>
            <a:off x="5498846" y="6085057"/>
            <a:ext cx="734304" cy="680811"/>
          </a:xfrm>
          <a:prstGeom prst="rect">
            <a:avLst/>
          </a:prstGeom>
        </p:spPr>
      </p:pic>
    </p:spTree>
    <p:extLst>
      <p:ext uri="{BB962C8B-B14F-4D97-AF65-F5344CB8AC3E}">
        <p14:creationId xmlns:p14="http://schemas.microsoft.com/office/powerpoint/2010/main" val="35120876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4</a:t>
            </a:fld>
            <a:endParaRPr kumimoji="1" lang="ja-JP" altLang="en-US" dirty="0"/>
          </a:p>
        </p:txBody>
      </p:sp>
      <p:sp>
        <p:nvSpPr>
          <p:cNvPr id="24" name="角丸四角形 23"/>
          <p:cNvSpPr/>
          <p:nvPr/>
        </p:nvSpPr>
        <p:spPr>
          <a:xfrm>
            <a:off x="214032" y="1478168"/>
            <a:ext cx="6432657" cy="3653597"/>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7144" y="2670199"/>
            <a:ext cx="1007080" cy="973133"/>
          </a:xfrm>
          <a:prstGeom prst="rect">
            <a:avLst/>
          </a:prstGeom>
        </p:spPr>
      </p:pic>
      <p:pic>
        <p:nvPicPr>
          <p:cNvPr id="5" name="図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1921" y="2670199"/>
            <a:ext cx="999923" cy="945579"/>
          </a:xfrm>
          <a:prstGeom prst="rect">
            <a:avLst/>
          </a:prstGeom>
        </p:spPr>
      </p:pic>
      <p:pic>
        <p:nvPicPr>
          <p:cNvPr id="6" name="図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9260" y="1562155"/>
            <a:ext cx="1042584" cy="1042584"/>
          </a:xfrm>
          <a:prstGeom prst="rect">
            <a:avLst/>
          </a:prstGeom>
        </p:spPr>
      </p:pic>
      <p:pic>
        <p:nvPicPr>
          <p:cNvPr id="7" name="図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44549" y="1585847"/>
            <a:ext cx="1009675" cy="995319"/>
          </a:xfrm>
          <a:prstGeom prst="rect">
            <a:avLst/>
          </a:prstGeom>
        </p:spPr>
      </p:pic>
      <p:pic>
        <p:nvPicPr>
          <p:cNvPr id="8" name="図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99517" y="2611713"/>
            <a:ext cx="1030483" cy="1054173"/>
          </a:xfrm>
          <a:prstGeom prst="rect">
            <a:avLst/>
          </a:prstGeom>
        </p:spPr>
      </p:pic>
      <p:pic>
        <p:nvPicPr>
          <p:cNvPr id="9" name="図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28843" y="1585847"/>
            <a:ext cx="1128328" cy="1018892"/>
          </a:xfrm>
          <a:prstGeom prst="rect">
            <a:avLst/>
          </a:prstGeom>
        </p:spPr>
      </p:pic>
      <p:pic>
        <p:nvPicPr>
          <p:cNvPr id="10" name="図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00878" y="2664513"/>
            <a:ext cx="984257" cy="951265"/>
          </a:xfrm>
          <a:prstGeom prst="rect">
            <a:avLst/>
          </a:prstGeom>
        </p:spPr>
      </p:pic>
      <p:pic>
        <p:nvPicPr>
          <p:cNvPr id="3" name="図 2"/>
          <p:cNvPicPr>
            <a:picLocks noChangeAspect="1"/>
          </p:cNvPicPr>
          <p:nvPr/>
        </p:nvPicPr>
        <p:blipFill>
          <a:blip r:embed="rId10"/>
          <a:stretch>
            <a:fillRect/>
          </a:stretch>
        </p:blipFill>
        <p:spPr>
          <a:xfrm>
            <a:off x="-6858000" y="590280"/>
            <a:ext cx="5465618" cy="696704"/>
          </a:xfrm>
          <a:prstGeom prst="rect">
            <a:avLst/>
          </a:prstGeom>
        </p:spPr>
      </p:pic>
      <p:pic>
        <p:nvPicPr>
          <p:cNvPr id="11" name="図 10"/>
          <p:cNvPicPr>
            <a:picLocks noChangeAspect="1"/>
          </p:cNvPicPr>
          <p:nvPr/>
        </p:nvPicPr>
        <p:blipFill>
          <a:blip r:embed="rId11"/>
          <a:stretch>
            <a:fillRect/>
          </a:stretch>
        </p:blipFill>
        <p:spPr>
          <a:xfrm>
            <a:off x="-7022297" y="1787981"/>
            <a:ext cx="5465618" cy="698653"/>
          </a:xfrm>
          <a:prstGeom prst="rect">
            <a:avLst/>
          </a:prstGeom>
        </p:spPr>
      </p:pic>
      <p:pic>
        <p:nvPicPr>
          <p:cNvPr id="16" name="図 15"/>
          <p:cNvPicPr>
            <a:picLocks noChangeAspect="1"/>
          </p:cNvPicPr>
          <p:nvPr/>
        </p:nvPicPr>
        <p:blipFill>
          <a:blip r:embed="rId12"/>
          <a:stretch>
            <a:fillRect/>
          </a:stretch>
        </p:blipFill>
        <p:spPr>
          <a:xfrm>
            <a:off x="-6979274" y="4026344"/>
            <a:ext cx="5465618" cy="711280"/>
          </a:xfrm>
          <a:prstGeom prst="rect">
            <a:avLst/>
          </a:prstGeom>
        </p:spPr>
      </p:pic>
      <p:pic>
        <p:nvPicPr>
          <p:cNvPr id="17" name="図 16"/>
          <p:cNvPicPr>
            <a:picLocks noChangeAspect="1"/>
          </p:cNvPicPr>
          <p:nvPr/>
        </p:nvPicPr>
        <p:blipFill>
          <a:blip r:embed="rId13"/>
          <a:stretch>
            <a:fillRect/>
          </a:stretch>
        </p:blipFill>
        <p:spPr>
          <a:xfrm>
            <a:off x="-7096108" y="5136493"/>
            <a:ext cx="5465618" cy="701956"/>
          </a:xfrm>
          <a:prstGeom prst="rect">
            <a:avLst/>
          </a:prstGeom>
        </p:spPr>
      </p:pic>
      <p:pic>
        <p:nvPicPr>
          <p:cNvPr id="19" name="図 18"/>
          <p:cNvPicPr>
            <a:picLocks noChangeAspect="1"/>
          </p:cNvPicPr>
          <p:nvPr/>
        </p:nvPicPr>
        <p:blipFill>
          <a:blip r:embed="rId14"/>
          <a:stretch>
            <a:fillRect/>
          </a:stretch>
        </p:blipFill>
        <p:spPr>
          <a:xfrm>
            <a:off x="-7096108" y="6296979"/>
            <a:ext cx="5465618" cy="700583"/>
          </a:xfrm>
          <a:prstGeom prst="rect">
            <a:avLst/>
          </a:prstGeom>
        </p:spPr>
      </p:pic>
      <p:pic>
        <p:nvPicPr>
          <p:cNvPr id="20" name="図 19"/>
          <p:cNvPicPr>
            <a:picLocks noChangeAspect="1"/>
          </p:cNvPicPr>
          <p:nvPr/>
        </p:nvPicPr>
        <p:blipFill>
          <a:blip r:embed="rId15"/>
          <a:stretch>
            <a:fillRect/>
          </a:stretch>
        </p:blipFill>
        <p:spPr>
          <a:xfrm>
            <a:off x="-7051017" y="7390701"/>
            <a:ext cx="5465618" cy="685226"/>
          </a:xfrm>
          <a:prstGeom prst="rect">
            <a:avLst/>
          </a:prstGeom>
        </p:spPr>
      </p:pic>
      <p:pic>
        <p:nvPicPr>
          <p:cNvPr id="21" name="図 20"/>
          <p:cNvPicPr>
            <a:picLocks noChangeAspect="1"/>
          </p:cNvPicPr>
          <p:nvPr/>
        </p:nvPicPr>
        <p:blipFill>
          <a:blip r:embed="rId16"/>
          <a:stretch>
            <a:fillRect/>
          </a:stretch>
        </p:blipFill>
        <p:spPr>
          <a:xfrm>
            <a:off x="-6858000" y="8489151"/>
            <a:ext cx="5465618" cy="725524"/>
          </a:xfrm>
          <a:prstGeom prst="rect">
            <a:avLst/>
          </a:prstGeom>
        </p:spPr>
      </p:pic>
      <p:pic>
        <p:nvPicPr>
          <p:cNvPr id="22" name="図 21"/>
          <p:cNvPicPr>
            <a:picLocks noChangeAspect="1"/>
          </p:cNvPicPr>
          <p:nvPr/>
        </p:nvPicPr>
        <p:blipFill>
          <a:blip r:embed="rId17"/>
          <a:stretch>
            <a:fillRect/>
          </a:stretch>
        </p:blipFill>
        <p:spPr>
          <a:xfrm>
            <a:off x="-6858000" y="9443875"/>
            <a:ext cx="5465618" cy="691918"/>
          </a:xfrm>
          <a:prstGeom prst="rect">
            <a:avLst/>
          </a:prstGeom>
        </p:spPr>
      </p:pic>
      <p:pic>
        <p:nvPicPr>
          <p:cNvPr id="35" name="図 34"/>
          <p:cNvPicPr>
            <a:picLocks noChangeAspect="1"/>
          </p:cNvPicPr>
          <p:nvPr/>
        </p:nvPicPr>
        <p:blipFill>
          <a:blip r:embed="rId18"/>
          <a:stretch>
            <a:fillRect/>
          </a:stretch>
        </p:blipFill>
        <p:spPr>
          <a:xfrm>
            <a:off x="-6979274" y="2916702"/>
            <a:ext cx="5465618" cy="733061"/>
          </a:xfrm>
          <a:prstGeom prst="rect">
            <a:avLst/>
          </a:prstGeom>
        </p:spPr>
      </p:pic>
      <p:sp>
        <p:nvSpPr>
          <p:cNvPr id="50" name="角丸四角形 49"/>
          <p:cNvSpPr/>
          <p:nvPr/>
        </p:nvSpPr>
        <p:spPr>
          <a:xfrm>
            <a:off x="214032" y="5887948"/>
            <a:ext cx="6390507" cy="3951106"/>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5" name="グループ化 44"/>
          <p:cNvGrpSpPr/>
          <p:nvPr/>
        </p:nvGrpSpPr>
        <p:grpSpPr>
          <a:xfrm>
            <a:off x="675137" y="8182931"/>
            <a:ext cx="5426146" cy="1507730"/>
            <a:chOff x="636467" y="7958857"/>
            <a:chExt cx="5426146" cy="1507730"/>
          </a:xfrm>
        </p:grpSpPr>
        <p:pic>
          <p:nvPicPr>
            <p:cNvPr id="46" name="図 45"/>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47" name="テキスト ボックス 46"/>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48" name="角丸四角形 47"/>
            <p:cNvSpPr/>
            <p:nvPr/>
          </p:nvSpPr>
          <p:spPr>
            <a:xfrm>
              <a:off x="636467" y="8434139"/>
              <a:ext cx="5426146" cy="1032448"/>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smtClean="0">
                  <a:solidFill>
                    <a:schemeClr val="tx1"/>
                  </a:solidFill>
                  <a:latin typeface="Meiryo UI" panose="020B0604030504040204" pitchFamily="50" charset="-128"/>
                  <a:ea typeface="Meiryo UI" panose="020B0604030504040204" pitchFamily="50" charset="-128"/>
                </a:rPr>
                <a:t>「うまれたつきは」と聞いて、</a:t>
              </a:r>
              <a:r>
                <a:rPr lang="en-US" altLang="ja-JP" sz="1200" dirty="0" smtClean="0">
                  <a:solidFill>
                    <a:schemeClr val="tx1"/>
                  </a:solidFill>
                  <a:latin typeface="Meiryo UI" panose="020B0604030504040204" pitchFamily="50" charset="-128"/>
                  <a:ea typeface="Meiryo UI" panose="020B0604030504040204" pitchFamily="50" charset="-128"/>
                </a:rPr>
                <a:t>1</a:t>
              </a:r>
              <a:r>
                <a:rPr lang="ja-JP" altLang="en-US" sz="1200" dirty="0" smtClean="0">
                  <a:solidFill>
                    <a:schemeClr val="tx1"/>
                  </a:solidFill>
                  <a:latin typeface="Meiryo UI" panose="020B0604030504040204" pitchFamily="50" charset="-128"/>
                  <a:ea typeface="Meiryo UI" panose="020B0604030504040204" pitchFamily="50" charset="-128"/>
                </a:rPr>
                <a:t>から</a:t>
              </a:r>
              <a:r>
                <a:rPr lang="en-US" altLang="ja-JP" sz="1200" dirty="0" smtClean="0">
                  <a:solidFill>
                    <a:schemeClr val="tx1"/>
                  </a:solidFill>
                  <a:latin typeface="Meiryo UI" panose="020B0604030504040204" pitchFamily="50" charset="-128"/>
                  <a:ea typeface="Meiryo UI" panose="020B0604030504040204" pitchFamily="50" charset="-128"/>
                </a:rPr>
                <a:t>12</a:t>
              </a:r>
              <a:r>
                <a:rPr lang="ja-JP" altLang="en-US" sz="1200" dirty="0" smtClean="0">
                  <a:solidFill>
                    <a:schemeClr val="tx1"/>
                  </a:solidFill>
                  <a:latin typeface="Meiryo UI" panose="020B0604030504040204" pitchFamily="50" charset="-128"/>
                  <a:ea typeface="Meiryo UI" panose="020B0604030504040204" pitchFamily="50" charset="-128"/>
                </a:rPr>
                <a:t>の数字を入力した場合に現在の月と同じ月の場合は「こんげつだね」と答え、違う月の場合は「おしえてくれてありがとう」と答えるプログラムです。</a:t>
              </a:r>
              <a:r>
                <a:rPr lang="en-US" altLang="ja-JP" sz="1200" dirty="0" smtClean="0">
                  <a:solidFill>
                    <a:schemeClr val="tx1"/>
                  </a:solidFill>
                  <a:latin typeface="Meiryo UI" panose="020B0604030504040204" pitchFamily="50" charset="-128"/>
                  <a:ea typeface="Meiryo UI" panose="020B0604030504040204" pitchFamily="50" charset="-128"/>
                </a:rPr>
                <a:t>1</a:t>
              </a:r>
              <a:r>
                <a:rPr lang="ja-JP" altLang="en-US" sz="1200" dirty="0" smtClean="0">
                  <a:solidFill>
                    <a:schemeClr val="tx1"/>
                  </a:solidFill>
                  <a:latin typeface="Meiryo UI" panose="020B0604030504040204" pitchFamily="50" charset="-128"/>
                  <a:ea typeface="Meiryo UI" panose="020B0604030504040204" pitchFamily="50" charset="-128"/>
                </a:rPr>
                <a:t>から</a:t>
              </a:r>
              <a:r>
                <a:rPr lang="en-US" altLang="ja-JP" sz="1200" dirty="0" smtClean="0">
                  <a:solidFill>
                    <a:schemeClr val="tx1"/>
                  </a:solidFill>
                  <a:latin typeface="Meiryo UI" panose="020B0604030504040204" pitchFamily="50" charset="-128"/>
                  <a:ea typeface="Meiryo UI" panose="020B0604030504040204" pitchFamily="50" charset="-128"/>
                </a:rPr>
                <a:t>12</a:t>
              </a:r>
              <a:r>
                <a:rPr lang="ja-JP" altLang="en-US" sz="1200" dirty="0" smtClean="0">
                  <a:solidFill>
                    <a:schemeClr val="tx1"/>
                  </a:solidFill>
                  <a:latin typeface="Meiryo UI" panose="020B0604030504040204" pitchFamily="50" charset="-128"/>
                  <a:ea typeface="Meiryo UI" panose="020B0604030504040204" pitchFamily="50" charset="-128"/>
                </a:rPr>
                <a:t>の数字以外だと「そんなつきはないよ」と答えます。</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もし</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の中に</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もし</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を入れることで</a:t>
              </a:r>
              <a:r>
                <a:rPr lang="ja-JP" altLang="en-US" sz="1200" dirty="0">
                  <a:solidFill>
                    <a:schemeClr val="tx1"/>
                  </a:solidFill>
                  <a:latin typeface="Meiryo UI" panose="020B0604030504040204" pitchFamily="50" charset="-128"/>
                  <a:ea typeface="Meiryo UI" panose="020B0604030504040204" pitchFamily="50" charset="-128"/>
                </a:rPr>
                <a:t>分岐</a:t>
              </a:r>
              <a:r>
                <a:rPr lang="ja-JP" altLang="en-US" sz="1200" dirty="0" smtClean="0">
                  <a:solidFill>
                    <a:schemeClr val="tx1"/>
                  </a:solidFill>
                  <a:latin typeface="Meiryo UI" panose="020B0604030504040204" pitchFamily="50" charset="-128"/>
                  <a:ea typeface="Meiryo UI" panose="020B0604030504040204" pitchFamily="50" charset="-128"/>
                </a:rPr>
                <a:t>の数を増やすことが可能です。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grpSp>
        <p:nvGrpSpPr>
          <p:cNvPr id="34" name="グループ化 33"/>
          <p:cNvGrpSpPr/>
          <p:nvPr/>
        </p:nvGrpSpPr>
        <p:grpSpPr>
          <a:xfrm>
            <a:off x="417522" y="3439728"/>
            <a:ext cx="6016188" cy="1489648"/>
            <a:chOff x="601849" y="7958857"/>
            <a:chExt cx="6016188" cy="1489648"/>
          </a:xfrm>
        </p:grpSpPr>
        <p:pic>
          <p:nvPicPr>
            <p:cNvPr id="36" name="図 35"/>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37" name="テキスト ボックス 36"/>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38" name="角丸四角形 37"/>
            <p:cNvSpPr/>
            <p:nvPr/>
          </p:nvSpPr>
          <p:spPr>
            <a:xfrm>
              <a:off x="601849" y="8434265"/>
              <a:ext cx="6016188" cy="1014240"/>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ja-JP" sz="1200" dirty="0" smtClean="0">
                  <a:solidFill>
                    <a:schemeClr val="tx1"/>
                  </a:solidFill>
                  <a:latin typeface="Meiryo UI" panose="020B0604030504040204" pitchFamily="50" charset="-128"/>
                  <a:ea typeface="Meiryo UI" panose="020B0604030504040204" pitchFamily="50" charset="-128"/>
                </a:rPr>
                <a:t>1</a:t>
              </a:r>
              <a:r>
                <a:rPr lang="ja-JP" altLang="en-US" sz="1200" dirty="0" smtClean="0">
                  <a:solidFill>
                    <a:schemeClr val="tx1"/>
                  </a:solidFill>
                  <a:latin typeface="Meiryo UI" panose="020B0604030504040204" pitchFamily="50" charset="-128"/>
                  <a:ea typeface="Meiryo UI" panose="020B0604030504040204" pitchFamily="50" charset="-128"/>
                </a:rPr>
                <a:t>から</a:t>
              </a:r>
              <a:r>
                <a:rPr lang="en-US" altLang="ja-JP" sz="1200" dirty="0" smtClean="0">
                  <a:solidFill>
                    <a:schemeClr val="tx1"/>
                  </a:solidFill>
                  <a:latin typeface="Meiryo UI" panose="020B0604030504040204" pitchFamily="50" charset="-128"/>
                  <a:ea typeface="Meiryo UI" panose="020B0604030504040204" pitchFamily="50" charset="-128"/>
                </a:rPr>
                <a:t>12</a:t>
              </a:r>
              <a:r>
                <a:rPr lang="ja-JP" altLang="en-US" sz="1200" dirty="0" err="1" smtClean="0">
                  <a:solidFill>
                    <a:schemeClr val="tx1"/>
                  </a:solidFill>
                  <a:latin typeface="Meiryo UI" panose="020B0604030504040204" pitchFamily="50" charset="-128"/>
                  <a:ea typeface="Meiryo UI" panose="020B0604030504040204" pitchFamily="50" charset="-128"/>
                </a:rPr>
                <a:t>までの</a:t>
              </a:r>
              <a:r>
                <a:rPr lang="ja-JP" altLang="en-US" sz="1200" dirty="0" smtClean="0">
                  <a:solidFill>
                    <a:schemeClr val="tx1"/>
                  </a:solidFill>
                  <a:latin typeface="Meiryo UI" panose="020B0604030504040204" pitchFamily="50" charset="-128"/>
                  <a:ea typeface="Meiryo UI" panose="020B0604030504040204" pitchFamily="50" charset="-128"/>
                </a:rPr>
                <a:t>数字が入力された場合「おしえてくれてありがとう」と答えるプログラムです。</a:t>
              </a:r>
              <a:endParaRPr lang="en-US" altLang="ja-JP" sz="1200" dirty="0" smtClean="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latin typeface="Meiryo UI" panose="020B0604030504040204" pitchFamily="50" charset="-128"/>
                  <a:ea typeface="Meiryo UI" panose="020B0604030504040204" pitchFamily="50" charset="-128"/>
                </a:rPr>
                <a:t>不等号</a:t>
              </a:r>
              <a:r>
                <a:rPr lang="ja-JP" altLang="en-US" sz="1200" dirty="0" smtClean="0">
                  <a:solidFill>
                    <a:schemeClr val="tx1"/>
                  </a:solidFill>
                  <a:latin typeface="Meiryo UI" panose="020B0604030504040204" pitchFamily="50" charset="-128"/>
                  <a:ea typeface="Meiryo UI" panose="020B0604030504040204" pitchFamily="50" charset="-128"/>
                </a:rPr>
                <a:t>を使用することで条件を範囲で指定することが可能なため、数字で条件を複数決める場合はこちらの方が</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かつ</a:t>
              </a:r>
              <a:r>
                <a:rPr lang="en-US" altLang="ja-JP" sz="1200" dirty="0" smtClean="0">
                  <a:solidFill>
                    <a:schemeClr val="tx1"/>
                  </a:solidFill>
                  <a:latin typeface="Meiryo UI" panose="020B0604030504040204" pitchFamily="50" charset="-128"/>
                  <a:ea typeface="Meiryo UI" panose="020B0604030504040204" pitchFamily="50" charset="-128"/>
                </a:rPr>
                <a:t>】</a:t>
              </a:r>
              <a:r>
                <a:rPr lang="ja-JP" altLang="en-US" sz="1200" dirty="0" smtClean="0">
                  <a:solidFill>
                    <a:schemeClr val="tx1"/>
                  </a:solidFill>
                  <a:latin typeface="Meiryo UI" panose="020B0604030504040204" pitchFamily="50" charset="-128"/>
                  <a:ea typeface="Meiryo UI" panose="020B0604030504040204" pitchFamily="50" charset="-128"/>
                </a:rPr>
                <a:t>を使用するより条件の管理が容易になりますが、不等号の向きには注意が必要です。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14" name="図 13"/>
          <p:cNvPicPr>
            <a:picLocks noChangeAspect="1"/>
          </p:cNvPicPr>
          <p:nvPr/>
        </p:nvPicPr>
        <p:blipFill>
          <a:blip r:embed="rId20"/>
          <a:stretch>
            <a:fillRect/>
          </a:stretch>
        </p:blipFill>
        <p:spPr>
          <a:xfrm>
            <a:off x="121377" y="709838"/>
            <a:ext cx="5488416" cy="719172"/>
          </a:xfrm>
          <a:prstGeom prst="rect">
            <a:avLst/>
          </a:prstGeom>
        </p:spPr>
      </p:pic>
      <p:pic>
        <p:nvPicPr>
          <p:cNvPr id="18" name="図 17"/>
          <p:cNvPicPr>
            <a:picLocks noChangeAspect="1"/>
          </p:cNvPicPr>
          <p:nvPr/>
        </p:nvPicPr>
        <p:blipFill>
          <a:blip r:embed="rId21"/>
          <a:stretch>
            <a:fillRect/>
          </a:stretch>
        </p:blipFill>
        <p:spPr>
          <a:xfrm>
            <a:off x="175495" y="5269153"/>
            <a:ext cx="4827116" cy="619433"/>
          </a:xfrm>
          <a:prstGeom prst="rect">
            <a:avLst/>
          </a:prstGeom>
        </p:spPr>
      </p:pic>
      <p:pic>
        <p:nvPicPr>
          <p:cNvPr id="23" name="図 22"/>
          <p:cNvPicPr>
            <a:picLocks noChangeAspect="1"/>
          </p:cNvPicPr>
          <p:nvPr/>
        </p:nvPicPr>
        <p:blipFill>
          <a:blip r:embed="rId22"/>
          <a:stretch>
            <a:fillRect/>
          </a:stretch>
        </p:blipFill>
        <p:spPr>
          <a:xfrm>
            <a:off x="417522" y="1684950"/>
            <a:ext cx="3347315" cy="1728325"/>
          </a:xfrm>
          <a:prstGeom prst="rect">
            <a:avLst/>
          </a:prstGeom>
        </p:spPr>
      </p:pic>
      <p:pic>
        <p:nvPicPr>
          <p:cNvPr id="41" name="図 40"/>
          <p:cNvPicPr>
            <a:picLocks noChangeAspect="1"/>
          </p:cNvPicPr>
          <p:nvPr/>
        </p:nvPicPr>
        <p:blipFill>
          <a:blip r:embed="rId23"/>
          <a:stretch>
            <a:fillRect/>
          </a:stretch>
        </p:blipFill>
        <p:spPr>
          <a:xfrm>
            <a:off x="4195617" y="1642978"/>
            <a:ext cx="837564" cy="776549"/>
          </a:xfrm>
          <a:prstGeom prst="rect">
            <a:avLst/>
          </a:prstGeom>
        </p:spPr>
      </p:pic>
      <p:pic>
        <p:nvPicPr>
          <p:cNvPr id="42" name="図 41"/>
          <p:cNvPicPr>
            <a:picLocks noChangeAspect="1"/>
          </p:cNvPicPr>
          <p:nvPr/>
        </p:nvPicPr>
        <p:blipFill>
          <a:blip r:embed="rId23"/>
          <a:stretch>
            <a:fillRect/>
          </a:stretch>
        </p:blipFill>
        <p:spPr>
          <a:xfrm>
            <a:off x="3006834" y="6116639"/>
            <a:ext cx="837564" cy="776549"/>
          </a:xfrm>
          <a:prstGeom prst="rect">
            <a:avLst/>
          </a:prstGeom>
        </p:spPr>
      </p:pic>
      <p:pic>
        <p:nvPicPr>
          <p:cNvPr id="25" name="図 24"/>
          <p:cNvPicPr>
            <a:picLocks noChangeAspect="1"/>
          </p:cNvPicPr>
          <p:nvPr/>
        </p:nvPicPr>
        <p:blipFill>
          <a:blip r:embed="rId24"/>
          <a:stretch>
            <a:fillRect/>
          </a:stretch>
        </p:blipFill>
        <p:spPr>
          <a:xfrm>
            <a:off x="634988" y="6180711"/>
            <a:ext cx="1980413" cy="1950203"/>
          </a:xfrm>
          <a:prstGeom prst="rect">
            <a:avLst/>
          </a:prstGeom>
        </p:spPr>
      </p:pic>
    </p:spTree>
    <p:extLst>
      <p:ext uri="{BB962C8B-B14F-4D97-AF65-F5344CB8AC3E}">
        <p14:creationId xmlns:p14="http://schemas.microsoft.com/office/powerpoint/2010/main" val="35155673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スライド番号プレースホルダー 11"/>
          <p:cNvSpPr>
            <a:spLocks noGrp="1"/>
          </p:cNvSpPr>
          <p:nvPr>
            <p:ph type="sldNum" sz="quarter" idx="12"/>
          </p:nvPr>
        </p:nvSpPr>
        <p:spPr>
          <a:xfrm>
            <a:off x="5002611" y="11008235"/>
            <a:ext cx="1543050" cy="527403"/>
          </a:xfrm>
        </p:spPr>
        <p:txBody>
          <a:bodyPr/>
          <a:lstStyle/>
          <a:p>
            <a:fld id="{8DBAE1CF-20C8-4114-ADB2-E159DA3EDBFD}" type="slidenum">
              <a:rPr kumimoji="1" lang="ja-JP" altLang="en-US" smtClean="0"/>
              <a:t>5</a:t>
            </a:fld>
            <a:endParaRPr kumimoji="1" lang="ja-JP" altLang="en-US" dirty="0"/>
          </a:p>
        </p:txBody>
      </p:sp>
      <p:sp>
        <p:nvSpPr>
          <p:cNvPr id="24" name="角丸四角形 23"/>
          <p:cNvSpPr/>
          <p:nvPr/>
        </p:nvSpPr>
        <p:spPr>
          <a:xfrm>
            <a:off x="214032" y="1511441"/>
            <a:ext cx="6432657" cy="4399030"/>
          </a:xfrm>
          <a:prstGeom prst="roundRect">
            <a:avLst>
              <a:gd name="adj" fmla="val 7136"/>
            </a:avLst>
          </a:prstGeom>
          <a:solidFill>
            <a:srgbClr val="FBDF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7144" y="2670199"/>
            <a:ext cx="1007080" cy="973133"/>
          </a:xfrm>
          <a:prstGeom prst="rect">
            <a:avLst/>
          </a:prstGeom>
        </p:spPr>
      </p:pic>
      <p:pic>
        <p:nvPicPr>
          <p:cNvPr id="5" name="図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1921" y="2670199"/>
            <a:ext cx="999923" cy="945579"/>
          </a:xfrm>
          <a:prstGeom prst="rect">
            <a:avLst/>
          </a:prstGeom>
        </p:spPr>
      </p:pic>
      <p:pic>
        <p:nvPicPr>
          <p:cNvPr id="6" name="図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9260" y="1562155"/>
            <a:ext cx="1042584" cy="1042584"/>
          </a:xfrm>
          <a:prstGeom prst="rect">
            <a:avLst/>
          </a:prstGeom>
        </p:spPr>
      </p:pic>
      <p:pic>
        <p:nvPicPr>
          <p:cNvPr id="7" name="図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44549" y="1585847"/>
            <a:ext cx="1009675" cy="995319"/>
          </a:xfrm>
          <a:prstGeom prst="rect">
            <a:avLst/>
          </a:prstGeom>
        </p:spPr>
      </p:pic>
      <p:pic>
        <p:nvPicPr>
          <p:cNvPr id="8" name="図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99517" y="2611713"/>
            <a:ext cx="1030483" cy="1054173"/>
          </a:xfrm>
          <a:prstGeom prst="rect">
            <a:avLst/>
          </a:prstGeom>
        </p:spPr>
      </p:pic>
      <p:pic>
        <p:nvPicPr>
          <p:cNvPr id="9" name="図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28843" y="1585847"/>
            <a:ext cx="1128328" cy="1018892"/>
          </a:xfrm>
          <a:prstGeom prst="rect">
            <a:avLst/>
          </a:prstGeom>
        </p:spPr>
      </p:pic>
      <p:pic>
        <p:nvPicPr>
          <p:cNvPr id="10" name="図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00878" y="2664513"/>
            <a:ext cx="984257" cy="951265"/>
          </a:xfrm>
          <a:prstGeom prst="rect">
            <a:avLst/>
          </a:prstGeom>
        </p:spPr>
      </p:pic>
      <p:pic>
        <p:nvPicPr>
          <p:cNvPr id="3" name="図 2"/>
          <p:cNvPicPr>
            <a:picLocks noChangeAspect="1"/>
          </p:cNvPicPr>
          <p:nvPr/>
        </p:nvPicPr>
        <p:blipFill>
          <a:blip r:embed="rId10"/>
          <a:stretch>
            <a:fillRect/>
          </a:stretch>
        </p:blipFill>
        <p:spPr>
          <a:xfrm>
            <a:off x="-6858000" y="590280"/>
            <a:ext cx="5465618" cy="696704"/>
          </a:xfrm>
          <a:prstGeom prst="rect">
            <a:avLst/>
          </a:prstGeom>
        </p:spPr>
      </p:pic>
      <p:pic>
        <p:nvPicPr>
          <p:cNvPr id="11" name="図 10"/>
          <p:cNvPicPr>
            <a:picLocks noChangeAspect="1"/>
          </p:cNvPicPr>
          <p:nvPr/>
        </p:nvPicPr>
        <p:blipFill>
          <a:blip r:embed="rId11"/>
          <a:stretch>
            <a:fillRect/>
          </a:stretch>
        </p:blipFill>
        <p:spPr>
          <a:xfrm>
            <a:off x="-7022297" y="1787981"/>
            <a:ext cx="5465618" cy="698653"/>
          </a:xfrm>
          <a:prstGeom prst="rect">
            <a:avLst/>
          </a:prstGeom>
        </p:spPr>
      </p:pic>
      <p:pic>
        <p:nvPicPr>
          <p:cNvPr id="16" name="図 15"/>
          <p:cNvPicPr>
            <a:picLocks noChangeAspect="1"/>
          </p:cNvPicPr>
          <p:nvPr/>
        </p:nvPicPr>
        <p:blipFill>
          <a:blip r:embed="rId12"/>
          <a:stretch>
            <a:fillRect/>
          </a:stretch>
        </p:blipFill>
        <p:spPr>
          <a:xfrm>
            <a:off x="-6979274" y="4026344"/>
            <a:ext cx="5465618" cy="711280"/>
          </a:xfrm>
          <a:prstGeom prst="rect">
            <a:avLst/>
          </a:prstGeom>
        </p:spPr>
      </p:pic>
      <p:pic>
        <p:nvPicPr>
          <p:cNvPr id="17" name="図 16"/>
          <p:cNvPicPr>
            <a:picLocks noChangeAspect="1"/>
          </p:cNvPicPr>
          <p:nvPr/>
        </p:nvPicPr>
        <p:blipFill>
          <a:blip r:embed="rId13"/>
          <a:stretch>
            <a:fillRect/>
          </a:stretch>
        </p:blipFill>
        <p:spPr>
          <a:xfrm>
            <a:off x="-7096108" y="5136493"/>
            <a:ext cx="5465618" cy="701956"/>
          </a:xfrm>
          <a:prstGeom prst="rect">
            <a:avLst/>
          </a:prstGeom>
        </p:spPr>
      </p:pic>
      <p:pic>
        <p:nvPicPr>
          <p:cNvPr id="19" name="図 18"/>
          <p:cNvPicPr>
            <a:picLocks noChangeAspect="1"/>
          </p:cNvPicPr>
          <p:nvPr/>
        </p:nvPicPr>
        <p:blipFill>
          <a:blip r:embed="rId14"/>
          <a:stretch>
            <a:fillRect/>
          </a:stretch>
        </p:blipFill>
        <p:spPr>
          <a:xfrm>
            <a:off x="-7096108" y="6296979"/>
            <a:ext cx="5465618" cy="700583"/>
          </a:xfrm>
          <a:prstGeom prst="rect">
            <a:avLst/>
          </a:prstGeom>
        </p:spPr>
      </p:pic>
      <p:pic>
        <p:nvPicPr>
          <p:cNvPr id="20" name="図 19"/>
          <p:cNvPicPr>
            <a:picLocks noChangeAspect="1"/>
          </p:cNvPicPr>
          <p:nvPr/>
        </p:nvPicPr>
        <p:blipFill>
          <a:blip r:embed="rId15"/>
          <a:stretch>
            <a:fillRect/>
          </a:stretch>
        </p:blipFill>
        <p:spPr>
          <a:xfrm>
            <a:off x="-7051017" y="7390701"/>
            <a:ext cx="5465618" cy="685226"/>
          </a:xfrm>
          <a:prstGeom prst="rect">
            <a:avLst/>
          </a:prstGeom>
        </p:spPr>
      </p:pic>
      <p:pic>
        <p:nvPicPr>
          <p:cNvPr id="21" name="図 20"/>
          <p:cNvPicPr>
            <a:picLocks noChangeAspect="1"/>
          </p:cNvPicPr>
          <p:nvPr/>
        </p:nvPicPr>
        <p:blipFill>
          <a:blip r:embed="rId16"/>
          <a:stretch>
            <a:fillRect/>
          </a:stretch>
        </p:blipFill>
        <p:spPr>
          <a:xfrm>
            <a:off x="-6858000" y="8489151"/>
            <a:ext cx="5465618" cy="725524"/>
          </a:xfrm>
          <a:prstGeom prst="rect">
            <a:avLst/>
          </a:prstGeom>
        </p:spPr>
      </p:pic>
      <p:pic>
        <p:nvPicPr>
          <p:cNvPr id="22" name="図 21"/>
          <p:cNvPicPr>
            <a:picLocks noChangeAspect="1"/>
          </p:cNvPicPr>
          <p:nvPr/>
        </p:nvPicPr>
        <p:blipFill>
          <a:blip r:embed="rId17"/>
          <a:stretch>
            <a:fillRect/>
          </a:stretch>
        </p:blipFill>
        <p:spPr>
          <a:xfrm>
            <a:off x="-6858000" y="9443875"/>
            <a:ext cx="5465618" cy="691918"/>
          </a:xfrm>
          <a:prstGeom prst="rect">
            <a:avLst/>
          </a:prstGeom>
        </p:spPr>
      </p:pic>
      <p:pic>
        <p:nvPicPr>
          <p:cNvPr id="35" name="図 34"/>
          <p:cNvPicPr>
            <a:picLocks noChangeAspect="1"/>
          </p:cNvPicPr>
          <p:nvPr/>
        </p:nvPicPr>
        <p:blipFill>
          <a:blip r:embed="rId18"/>
          <a:stretch>
            <a:fillRect/>
          </a:stretch>
        </p:blipFill>
        <p:spPr>
          <a:xfrm>
            <a:off x="-6979274" y="2916702"/>
            <a:ext cx="5465618" cy="733061"/>
          </a:xfrm>
          <a:prstGeom prst="rect">
            <a:avLst/>
          </a:prstGeom>
        </p:spPr>
      </p:pic>
      <p:grpSp>
        <p:nvGrpSpPr>
          <p:cNvPr id="34" name="グループ化 33"/>
          <p:cNvGrpSpPr/>
          <p:nvPr/>
        </p:nvGrpSpPr>
        <p:grpSpPr>
          <a:xfrm>
            <a:off x="422266" y="4220789"/>
            <a:ext cx="6016188" cy="1437774"/>
            <a:chOff x="636467" y="7958857"/>
            <a:chExt cx="6016188" cy="1437774"/>
          </a:xfrm>
        </p:grpSpPr>
        <p:pic>
          <p:nvPicPr>
            <p:cNvPr id="36" name="図 35"/>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617384" y="7958857"/>
              <a:ext cx="580737" cy="716596"/>
            </a:xfrm>
            <a:prstGeom prst="rect">
              <a:avLst/>
            </a:prstGeom>
          </p:spPr>
        </p:pic>
        <p:sp>
          <p:nvSpPr>
            <p:cNvPr id="37" name="テキスト ボックス 36"/>
            <p:cNvSpPr txBox="1"/>
            <p:nvPr/>
          </p:nvSpPr>
          <p:spPr>
            <a:xfrm>
              <a:off x="797010" y="8008015"/>
              <a:ext cx="1012512" cy="473698"/>
            </a:xfrm>
            <a:prstGeom prst="rect">
              <a:avLst/>
            </a:prstGeom>
            <a:noFill/>
          </p:spPr>
          <p:txBody>
            <a:bodyPr wrap="square" rtlCol="0">
              <a:spAutoFit/>
            </a:bodyPr>
            <a:lstStyle/>
            <a:p>
              <a:r>
                <a:rPr lang="en-US" altLang="ja-JP" sz="2400" dirty="0" smtClean="0">
                  <a:solidFill>
                    <a:srgbClr val="00A0E9"/>
                  </a:solidFill>
                  <a:latin typeface="Tw Cen MT Condensed Extra Bold" panose="020B0803020202020204" pitchFamily="34" charset="0"/>
                </a:rPr>
                <a:t>POINT!</a:t>
              </a:r>
              <a:endParaRPr kumimoji="1" lang="ja-JP" altLang="en-US" sz="2400" dirty="0">
                <a:solidFill>
                  <a:srgbClr val="00A0E9"/>
                </a:solidFill>
                <a:latin typeface="Tw Cen MT Condensed Extra Bold" panose="020B0803020202020204" pitchFamily="34" charset="0"/>
              </a:endParaRPr>
            </a:p>
          </p:txBody>
        </p:sp>
        <p:sp>
          <p:nvSpPr>
            <p:cNvPr id="38" name="角丸四角形 37"/>
            <p:cNvSpPr/>
            <p:nvPr/>
          </p:nvSpPr>
          <p:spPr>
            <a:xfrm>
              <a:off x="636467" y="8434139"/>
              <a:ext cx="6016188" cy="962492"/>
            </a:xfrm>
            <a:prstGeom prst="roundRect">
              <a:avLst/>
            </a:prstGeom>
            <a:solidFill>
              <a:schemeClr val="bg1"/>
            </a:solidFill>
            <a:ln w="38100">
              <a:solidFill>
                <a:srgbClr val="00A0E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Meiryo UI" panose="020B0604030504040204" pitchFamily="50" charset="-128"/>
                  <a:ea typeface="Meiryo UI" panose="020B0604030504040204" pitchFamily="50" charset="-128"/>
                </a:rPr>
                <a:t>変数</a:t>
              </a:r>
              <a:r>
                <a:rPr lang="ja-JP" altLang="en-US" sz="1200" dirty="0" smtClean="0">
                  <a:solidFill>
                    <a:schemeClr val="tx1"/>
                  </a:solidFill>
                  <a:latin typeface="Meiryo UI" panose="020B0604030504040204" pitchFamily="50" charset="-128"/>
                  <a:ea typeface="Meiryo UI" panose="020B0604030504040204" pitchFamily="50" charset="-128"/>
                </a:rPr>
                <a:t>を使用し</a:t>
              </a:r>
              <a:r>
                <a:rPr lang="en-US" altLang="ja-JP" sz="1200" dirty="0" smtClean="0">
                  <a:solidFill>
                    <a:schemeClr val="tx1"/>
                  </a:solidFill>
                  <a:latin typeface="Meiryo UI" panose="020B0604030504040204" pitchFamily="50" charset="-128"/>
                  <a:ea typeface="Meiryo UI" panose="020B0604030504040204" pitchFamily="50" charset="-128"/>
                </a:rPr>
                <a:t>1</a:t>
              </a:r>
              <a:r>
                <a:rPr lang="ja-JP" altLang="en-US" sz="1200" dirty="0" smtClean="0">
                  <a:solidFill>
                    <a:schemeClr val="tx1"/>
                  </a:solidFill>
                  <a:latin typeface="Meiryo UI" panose="020B0604030504040204" pitchFamily="50" charset="-128"/>
                  <a:ea typeface="Meiryo UI" panose="020B0604030504040204" pitchFamily="50" charset="-128"/>
                </a:rPr>
                <a:t>から</a:t>
              </a:r>
              <a:r>
                <a:rPr lang="en-US" altLang="ja-JP" sz="1200" dirty="0" smtClean="0">
                  <a:solidFill>
                    <a:schemeClr val="tx1"/>
                  </a:solidFill>
                  <a:latin typeface="Meiryo UI" panose="020B0604030504040204" pitchFamily="50" charset="-128"/>
                  <a:ea typeface="Meiryo UI" panose="020B0604030504040204" pitchFamily="50" charset="-128"/>
                </a:rPr>
                <a:t>10</a:t>
              </a:r>
              <a:r>
                <a:rPr lang="ja-JP" altLang="en-US" sz="1200" dirty="0" smtClean="0">
                  <a:solidFill>
                    <a:schemeClr val="tx1"/>
                  </a:solidFill>
                  <a:latin typeface="Meiryo UI" panose="020B0604030504040204" pitchFamily="50" charset="-128"/>
                  <a:ea typeface="Meiryo UI" panose="020B0604030504040204" pitchFamily="50" charset="-128"/>
                </a:rPr>
                <a:t>の数字をランダムで決め、その数字が</a:t>
              </a:r>
              <a:r>
                <a:rPr lang="en-US" altLang="ja-JP" sz="1200" dirty="0" smtClean="0">
                  <a:solidFill>
                    <a:schemeClr val="tx1"/>
                  </a:solidFill>
                  <a:latin typeface="Meiryo UI" panose="020B0604030504040204" pitchFamily="50" charset="-128"/>
                  <a:ea typeface="Meiryo UI" panose="020B0604030504040204" pitchFamily="50" charset="-128"/>
                </a:rPr>
                <a:t>5</a:t>
              </a:r>
              <a:r>
                <a:rPr lang="ja-JP" altLang="en-US" sz="1200" dirty="0" smtClean="0">
                  <a:solidFill>
                    <a:schemeClr val="tx1"/>
                  </a:solidFill>
                  <a:latin typeface="Meiryo UI" panose="020B0604030504040204" pitchFamily="50" charset="-128"/>
                  <a:ea typeface="Meiryo UI" panose="020B0604030504040204" pitchFamily="50" charset="-128"/>
                </a:rPr>
                <a:t>より大きい場合は出た数字と「</a:t>
              </a:r>
              <a:r>
                <a:rPr lang="en-US" altLang="ja-JP" sz="1200" dirty="0">
                  <a:solidFill>
                    <a:schemeClr val="tx1"/>
                  </a:solidFill>
                  <a:latin typeface="Meiryo UI" panose="020B0604030504040204" pitchFamily="50" charset="-128"/>
                  <a:ea typeface="Meiryo UI" panose="020B0604030504040204" pitchFamily="50" charset="-128"/>
                </a:rPr>
                <a:t>H</a:t>
              </a:r>
              <a:r>
                <a:rPr lang="en-US" altLang="ja-JP" sz="1200" dirty="0" smtClean="0">
                  <a:solidFill>
                    <a:schemeClr val="tx1"/>
                  </a:solidFill>
                  <a:latin typeface="Meiryo UI" panose="020B0604030504040204" pitchFamily="50" charset="-128"/>
                  <a:ea typeface="Meiryo UI" panose="020B0604030504040204" pitchFamily="50" charset="-128"/>
                </a:rPr>
                <a:t>igh</a:t>
              </a:r>
              <a:r>
                <a:rPr lang="ja-JP" altLang="en-US" sz="1200" dirty="0" smtClean="0">
                  <a:solidFill>
                    <a:schemeClr val="tx1"/>
                  </a:solidFill>
                  <a:latin typeface="Meiryo UI" panose="020B0604030504040204" pitchFamily="50" charset="-128"/>
                  <a:ea typeface="Meiryo UI" panose="020B0604030504040204" pitchFamily="50" charset="-128"/>
                </a:rPr>
                <a:t>」、</a:t>
              </a:r>
              <a:r>
                <a:rPr lang="en-US" altLang="ja-JP" sz="1200" dirty="0" smtClean="0">
                  <a:solidFill>
                    <a:schemeClr val="tx1"/>
                  </a:solidFill>
                  <a:latin typeface="Meiryo UI" panose="020B0604030504040204" pitchFamily="50" charset="-128"/>
                  <a:ea typeface="Meiryo UI" panose="020B0604030504040204" pitchFamily="50" charset="-128"/>
                </a:rPr>
                <a:t>5</a:t>
              </a:r>
              <a:r>
                <a:rPr lang="ja-JP" altLang="en-US" sz="1200" dirty="0" smtClean="0">
                  <a:solidFill>
                    <a:schemeClr val="tx1"/>
                  </a:solidFill>
                  <a:latin typeface="Meiryo UI" panose="020B0604030504040204" pitchFamily="50" charset="-128"/>
                  <a:ea typeface="Meiryo UI" panose="020B0604030504040204" pitchFamily="50" charset="-128"/>
                </a:rPr>
                <a:t>より小さい場合は出た数字と「</a:t>
              </a:r>
              <a:r>
                <a:rPr lang="en-US" altLang="ja-JP" sz="1200" dirty="0" smtClean="0">
                  <a:solidFill>
                    <a:schemeClr val="tx1"/>
                  </a:solidFill>
                  <a:latin typeface="Meiryo UI" panose="020B0604030504040204" pitchFamily="50" charset="-128"/>
                  <a:ea typeface="Meiryo UI" panose="020B0604030504040204" pitchFamily="50" charset="-128"/>
                </a:rPr>
                <a:t>Low</a:t>
              </a:r>
              <a:r>
                <a:rPr lang="ja-JP" altLang="en-US" sz="1200" dirty="0" smtClean="0">
                  <a:solidFill>
                    <a:schemeClr val="tx1"/>
                  </a:solidFill>
                  <a:latin typeface="Meiryo UI" panose="020B0604030504040204" pitchFamily="50" charset="-128"/>
                  <a:ea typeface="Meiryo UI" panose="020B0604030504040204" pitchFamily="50" charset="-128"/>
                </a:rPr>
                <a:t>」と答えます。変数を使用することで入力した文字列を一時的に保存したり、プログラムが複雑化した場合などに同じ条件を一括で変更するなどの利点があります。</a:t>
              </a:r>
              <a:endParaRPr lang="en-US" altLang="ja-JP" sz="1200" dirty="0" smtClean="0">
                <a:solidFill>
                  <a:schemeClr val="tx1"/>
                </a:solidFill>
                <a:latin typeface="Meiryo UI" panose="020B0604030504040204" pitchFamily="50" charset="-128"/>
                <a:ea typeface="Meiryo UI" panose="020B0604030504040204" pitchFamily="50" charset="-128"/>
              </a:endParaRPr>
            </a:p>
          </p:txBody>
        </p:sp>
      </p:grpSp>
      <p:pic>
        <p:nvPicPr>
          <p:cNvPr id="2" name="図 1"/>
          <p:cNvPicPr>
            <a:picLocks noChangeAspect="1"/>
          </p:cNvPicPr>
          <p:nvPr/>
        </p:nvPicPr>
        <p:blipFill>
          <a:blip r:embed="rId20"/>
          <a:stretch>
            <a:fillRect/>
          </a:stretch>
        </p:blipFill>
        <p:spPr>
          <a:xfrm>
            <a:off x="214032" y="739725"/>
            <a:ext cx="5410681" cy="705198"/>
          </a:xfrm>
          <a:prstGeom prst="rect">
            <a:avLst/>
          </a:prstGeom>
        </p:spPr>
      </p:pic>
      <p:pic>
        <p:nvPicPr>
          <p:cNvPr id="29" name="図 28"/>
          <p:cNvPicPr>
            <a:picLocks noChangeAspect="1"/>
          </p:cNvPicPr>
          <p:nvPr/>
        </p:nvPicPr>
        <p:blipFill>
          <a:blip r:embed="rId21"/>
          <a:stretch>
            <a:fillRect/>
          </a:stretch>
        </p:blipFill>
        <p:spPr>
          <a:xfrm>
            <a:off x="4533547" y="1707018"/>
            <a:ext cx="837564" cy="776549"/>
          </a:xfrm>
          <a:prstGeom prst="rect">
            <a:avLst/>
          </a:prstGeom>
        </p:spPr>
      </p:pic>
      <p:pic>
        <p:nvPicPr>
          <p:cNvPr id="13" name="図 12"/>
          <p:cNvPicPr>
            <a:picLocks noChangeAspect="1"/>
          </p:cNvPicPr>
          <p:nvPr/>
        </p:nvPicPr>
        <p:blipFill>
          <a:blip r:embed="rId22"/>
          <a:stretch>
            <a:fillRect/>
          </a:stretch>
        </p:blipFill>
        <p:spPr>
          <a:xfrm>
            <a:off x="634980" y="1787981"/>
            <a:ext cx="3122337" cy="2172760"/>
          </a:xfrm>
          <a:prstGeom prst="rect">
            <a:avLst/>
          </a:prstGeom>
        </p:spPr>
      </p:pic>
    </p:spTree>
    <p:extLst>
      <p:ext uri="{BB962C8B-B14F-4D97-AF65-F5344CB8AC3E}">
        <p14:creationId xmlns:p14="http://schemas.microsoft.com/office/powerpoint/2010/main" val="24647679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1045</TotalTime>
  <Words>568</Words>
  <Application>Microsoft Office PowerPoint</Application>
  <PresentationFormat>A4 210 x 297 mm</PresentationFormat>
  <Paragraphs>32</Paragraphs>
  <Slides>5</Slides>
  <Notes>5</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5</vt:i4>
      </vt:variant>
    </vt:vector>
  </HeadingPairs>
  <TitlesOfParts>
    <vt:vector size="12" baseType="lpstr">
      <vt:lpstr>Meiryo UI</vt:lpstr>
      <vt:lpstr>ＭＳ Ｐゴシック</vt:lpstr>
      <vt:lpstr>Arial</vt:lpstr>
      <vt:lpstr>Calibri</vt:lpstr>
      <vt:lpstr>Calibri Light</vt:lpstr>
      <vt:lpstr>Tw Cen MT Condensed Extra Bold</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宇都宮 亮一</dc:creator>
  <cp:lastModifiedBy>松田 瑛</cp:lastModifiedBy>
  <cp:revision>61</cp:revision>
  <cp:lastPrinted>2023-11-17T05:55:17Z</cp:lastPrinted>
  <dcterms:created xsi:type="dcterms:W3CDTF">2023-09-21T11:34:36Z</dcterms:created>
  <dcterms:modified xsi:type="dcterms:W3CDTF">2024-03-21T03:26:23Z</dcterms:modified>
</cp:coreProperties>
</file>